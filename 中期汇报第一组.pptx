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8" r:id="rId2"/>
  </p:sldMasterIdLst>
  <p:notesMasterIdLst>
    <p:notesMasterId r:id="rId56"/>
  </p:notesMasterIdLst>
  <p:sldIdLst>
    <p:sldId id="257" r:id="rId3"/>
    <p:sldId id="263" r:id="rId4"/>
    <p:sldId id="283" r:id="rId5"/>
    <p:sldId id="286" r:id="rId6"/>
    <p:sldId id="287" r:id="rId7"/>
    <p:sldId id="276" r:id="rId8"/>
    <p:sldId id="324" r:id="rId9"/>
    <p:sldId id="325" r:id="rId10"/>
    <p:sldId id="273" r:id="rId11"/>
    <p:sldId id="303" r:id="rId12"/>
    <p:sldId id="304" r:id="rId13"/>
    <p:sldId id="305" r:id="rId14"/>
    <p:sldId id="307" r:id="rId15"/>
    <p:sldId id="308" r:id="rId16"/>
    <p:sldId id="311" r:id="rId17"/>
    <p:sldId id="309" r:id="rId18"/>
    <p:sldId id="310" r:id="rId19"/>
    <p:sldId id="312" r:id="rId20"/>
    <p:sldId id="313" r:id="rId21"/>
    <p:sldId id="314" r:id="rId22"/>
    <p:sldId id="306" r:id="rId23"/>
    <p:sldId id="315" r:id="rId24"/>
    <p:sldId id="316" r:id="rId25"/>
    <p:sldId id="317" r:id="rId26"/>
    <p:sldId id="318" r:id="rId27"/>
    <p:sldId id="319" r:id="rId28"/>
    <p:sldId id="320" r:id="rId29"/>
    <p:sldId id="289" r:id="rId30"/>
    <p:sldId id="290" r:id="rId31"/>
    <p:sldId id="328" r:id="rId32"/>
    <p:sldId id="327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321" r:id="rId41"/>
    <p:sldId id="322" r:id="rId42"/>
    <p:sldId id="323" r:id="rId43"/>
    <p:sldId id="298" r:id="rId44"/>
    <p:sldId id="299" r:id="rId45"/>
    <p:sldId id="300" r:id="rId46"/>
    <p:sldId id="301" r:id="rId47"/>
    <p:sldId id="302" r:id="rId48"/>
    <p:sldId id="326" r:id="rId49"/>
    <p:sldId id="329" r:id="rId50"/>
    <p:sldId id="330" r:id="rId51"/>
    <p:sldId id="331" r:id="rId52"/>
    <p:sldId id="332" r:id="rId53"/>
    <p:sldId id="333" r:id="rId54"/>
    <p:sldId id="265" r:id="rId55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gs" Target="tags/tag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39662-4C2D-43C1-A8F7-6C604B42791C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9F14E-1D91-458F-A905-0B774507ED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3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2857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6009" t="-18105" r="1201" b="1"/>
          <a:stretch>
            <a:fillRect/>
          </a:stretch>
        </p:blipFill>
        <p:spPr>
          <a:xfrm>
            <a:off x="-8468" y="2560319"/>
            <a:ext cx="12200467" cy="660689"/>
          </a:xfrm>
          <a:prstGeom prst="rect">
            <a:avLst/>
          </a:prstGeom>
        </p:spPr>
      </p:pic>
      <p:sp>
        <p:nvSpPr>
          <p:cNvPr id="13" name="内容占位符 2"/>
          <p:cNvSpPr>
            <a:spLocks noGrp="1"/>
          </p:cNvSpPr>
          <p:nvPr>
            <p:ph sz="quarter" idx="12" hasCustomPrompt="1"/>
          </p:nvPr>
        </p:nvSpPr>
        <p:spPr>
          <a:xfrm>
            <a:off x="4102835" y="4544189"/>
            <a:ext cx="3975953" cy="45402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fld id="{E42970F4-9EF3-4E0A-91E0-2B480D8FBBAF}" type="datetime2">
              <a:rPr lang="zh-CN" altLang="en-US" smtClean="0"/>
              <a:t>​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" y="5086796"/>
            <a:ext cx="4225394" cy="138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1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95" descr="图片包含 天空, 泰迪熊, 熊, 建筑物&#10;&#10;自动生成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0" r="23380"/>
          <a:stretch>
            <a:fillRect/>
          </a:stretch>
        </p:blipFill>
        <p:spPr>
          <a:xfrm>
            <a:off x="0" y="2109743"/>
            <a:ext cx="3705223" cy="474825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0" y="1"/>
            <a:ext cx="3705225" cy="3230879"/>
            <a:chOff x="0" y="1"/>
            <a:chExt cx="3705225" cy="3230879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1"/>
              <a:ext cx="3705225" cy="21234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2123439"/>
              <a:ext cx="3705225" cy="110744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 descr="图片包含 建筑物&#10;&#10;自动生成的说明"/>
          <p:cNvPicPr>
            <a:picLocks noChangeAspect="1"/>
          </p:cNvPicPr>
          <p:nvPr userDrawn="1"/>
        </p:nvPicPr>
        <p:blipFill>
          <a:blip r:embed="rId3" cstate="print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24" y="2047874"/>
            <a:ext cx="8486775" cy="345757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569118" y="1160150"/>
            <a:ext cx="256698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目  录</a:t>
            </a:r>
            <a:endParaRPr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CONTENT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198623"/>
            <a:ext cx="2847974" cy="93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6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760" t="-18106" r="1202" b="-17978"/>
          <a:stretch>
            <a:fillRect/>
          </a:stretch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813832" y="0"/>
            <a:ext cx="4824967" cy="6858000"/>
            <a:chOff x="975757" y="0"/>
            <a:chExt cx="4824967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7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ONE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10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58" y="0"/>
            <a:ext cx="4824967" cy="6858000"/>
          </a:xfrm>
          <a:prstGeom prst="rect">
            <a:avLst/>
          </a:prstGeom>
          <a:effectLst>
            <a:outerShdw blurRad="114300" dist="139700" algn="l" rotWithShape="0">
              <a:prstClr val="black">
                <a:alpha val="20000"/>
              </a:prstClr>
            </a:outerShdw>
          </a:effectLst>
        </p:spPr>
      </p:pic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-16667" r="1202" b="-17979"/>
            <a:stretch>
              <a:fillRect/>
            </a:stretch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11456" r="39636" b="-17978"/>
            <a:stretch>
              <a:fillRect/>
            </a:stretch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 userDrawn="1"/>
        </p:nvSpPr>
        <p:spPr>
          <a:xfrm>
            <a:off x="7089775" y="3089701"/>
            <a:ext cx="3645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PART ONE</a:t>
            </a:r>
            <a:endParaRPr lang="zh-CN" alt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46" y="1068380"/>
            <a:ext cx="1867505" cy="15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4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760" t="-18106" r="1202" b="-17978"/>
          <a:stretch>
            <a:fillRect/>
          </a:stretch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813833" y="0"/>
            <a:ext cx="4824966" cy="6858000"/>
            <a:chOff x="975758" y="0"/>
            <a:chExt cx="4824966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594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-16667" r="1202" b="-17979"/>
            <a:stretch>
              <a:fillRect/>
            </a:stretch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11456" r="39636" b="-17978"/>
            <a:stretch>
              <a:fillRect/>
            </a:stretch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9" y="0"/>
            <a:ext cx="4824966" cy="6858000"/>
            <a:chOff x="975758" y="0"/>
            <a:chExt cx="4824966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072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760" t="-18106" r="1202" b="-17978"/>
          <a:stretch>
            <a:fillRect/>
          </a:stretch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813831" y="0"/>
            <a:ext cx="4824967" cy="6858000"/>
            <a:chOff x="813831" y="0"/>
            <a:chExt cx="4824967" cy="6858000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813831" y="0"/>
              <a:ext cx="4824967" cy="6858000"/>
              <a:chOff x="975756" y="0"/>
              <a:chExt cx="4824967" cy="6858000"/>
            </a:xfrm>
          </p:grpSpPr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contrast="40000"/>
                        </a14:imgEffect>
                        <a14:imgEffect>
                          <a14:colorTemperature colorTemp="7200"/>
                        </a14:imgEffect>
                        <a14:imgEffect>
                          <a14:sharpenSoften amount="2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5756" y="0"/>
                <a:ext cx="4824967" cy="6858000"/>
              </a:xfrm>
              <a:prstGeom prst="rect">
                <a:avLst/>
              </a:prstGeom>
              <a:effectLst>
                <a:outerShdw blurRad="114300" dist="139700" algn="l" rotWithShape="0">
                  <a:prstClr val="black">
                    <a:alpha val="20000"/>
                  </a:prstClr>
                </a:outerShdw>
              </a:effectLst>
            </p:spPr>
          </p:pic>
          <p:sp>
            <p:nvSpPr>
              <p:cNvPr id="11" name="文本框 10"/>
              <p:cNvSpPr txBox="1"/>
              <p:nvPr userDrawn="1"/>
            </p:nvSpPr>
            <p:spPr>
              <a:xfrm>
                <a:off x="1266825" y="3089701"/>
                <a:ext cx="42576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zh-CN" sz="4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j-ea"/>
                  </a:rPr>
                  <a:t>PART THREE</a:t>
                </a:r>
                <a:endParaRPr lang="zh-CN" altLang="en-US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6845" y="1068380"/>
                <a:ext cx="1867505" cy="1523492"/>
              </a:xfrm>
              <a:prstGeom prst="rect">
                <a:avLst/>
              </a:prstGeom>
            </p:spPr>
          </p:pic>
        </p:grpSp>
        <p:sp>
          <p:nvSpPr>
            <p:cNvPr id="2" name="矩形 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0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-16667" r="1202" b="-17979"/>
            <a:stretch>
              <a:fillRect/>
            </a:stretch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11456" r="39636" b="-17978"/>
            <a:stretch>
              <a:fillRect/>
            </a:stretch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 userDrawn="1"/>
        </p:nvGrpSpPr>
        <p:grpSpPr>
          <a:xfrm>
            <a:off x="6500256" y="0"/>
            <a:ext cx="4824967" cy="6858000"/>
            <a:chOff x="813831" y="0"/>
            <a:chExt cx="4824967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  <a14:imgEffect>
                        <a14:colorTemperature colorTemp="7200"/>
                      </a14:imgEffect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831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矩形 1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500257" y="1068380"/>
            <a:ext cx="4824968" cy="2852318"/>
            <a:chOff x="975756" y="1068380"/>
            <a:chExt cx="4824968" cy="2852318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975756" y="3089701"/>
              <a:ext cx="48249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THREE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213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760" t="-18106" r="1202" b="-17978"/>
          <a:stretch>
            <a:fillRect/>
          </a:stretch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821252" y="0"/>
            <a:ext cx="4824969" cy="6858000"/>
            <a:chOff x="975755" y="0"/>
            <a:chExt cx="4824969" cy="685800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9" name="文本框 18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781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719299"/>
            <a:ext cx="12192001" cy="682058"/>
            <a:chOff x="0" y="3667540"/>
            <a:chExt cx="12192001" cy="68205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-16667" r="1202" b="-17979"/>
            <a:stretch>
              <a:fillRect/>
            </a:stretch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52958" t="11456" r="39636" b="-17978"/>
            <a:stretch>
              <a:fillRect/>
            </a:stretch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6" y="0"/>
            <a:ext cx="4824969" cy="6858000"/>
            <a:chOff x="975755" y="0"/>
            <a:chExt cx="4824969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262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/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606" t="-18105" r="1201" b="1"/>
            <a:stretch>
              <a:fillRect/>
            </a:stretch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1" hasCustomPrompt="1"/>
          </p:nvPr>
        </p:nvSpPr>
        <p:spPr>
          <a:xfrm>
            <a:off x="639763" y="1420813"/>
            <a:ext cx="10964862" cy="4656137"/>
          </a:xfrm>
        </p:spPr>
        <p:txBody>
          <a:bodyPr/>
          <a:lstStyle>
            <a:lvl1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870830" y="6294560"/>
            <a:ext cx="1037230" cy="342900"/>
          </a:xfrm>
        </p:spPr>
        <p:txBody>
          <a:bodyPr/>
          <a:lstStyle>
            <a:lvl1pPr>
              <a:defRPr sz="1600"/>
            </a:lvl1pPr>
          </a:lstStyle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sz="1600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1419"/>
          <a:stretch>
            <a:fillRect/>
          </a:stretch>
        </p:blipFill>
        <p:spPr>
          <a:xfrm>
            <a:off x="193905" y="122669"/>
            <a:ext cx="659535" cy="6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65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/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606" t="-18105" r="1201" b="1"/>
            <a:stretch>
              <a:fillRect/>
            </a:stretch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>
              <a:fillRect/>
            </a:stretch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603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/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606" t="-18105" r="1201" b="1"/>
            <a:stretch>
              <a:fillRect/>
            </a:stretch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>
              <a:fillRect/>
            </a:stretch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140671" y="6291045"/>
            <a:ext cx="56697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SJTU ICON LIBRARY Copyright © 2021 Invictus. All rights reserved. 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672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纯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395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986" y="165372"/>
            <a:ext cx="3264645" cy="107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11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38871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6009" t="-18105" r="1201" b="1"/>
          <a:stretch>
            <a:fillRect/>
          </a:stretch>
        </p:blipFill>
        <p:spPr>
          <a:xfrm>
            <a:off x="-8468" y="3503541"/>
            <a:ext cx="12200467" cy="66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32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5409398"/>
          </a:xfrm>
        </p:grpSpPr>
        <p:sp>
          <p:nvSpPr>
            <p:cNvPr id="2" name="矩形 1"/>
            <p:cNvSpPr/>
            <p:nvPr userDrawn="1"/>
          </p:nvSpPr>
          <p:spPr>
            <a:xfrm>
              <a:off x="0" y="3295018"/>
              <a:ext cx="12192000" cy="2114380"/>
            </a:xfrm>
            <a:prstGeom prst="rect">
              <a:avLst/>
            </a:prstGeom>
            <a:gradFill>
              <a:gsLst>
                <a:gs pos="0">
                  <a:schemeClr val="accent1">
                    <a:alpha val="6200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" y="0"/>
              <a:ext cx="12192001" cy="32950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6009" t="-18105" r="1201" b="1"/>
          <a:stretch>
            <a:fillRect/>
          </a:stretch>
        </p:blipFill>
        <p:spPr>
          <a:xfrm>
            <a:off x="0" y="5877294"/>
            <a:ext cx="12200467" cy="66068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640" y="350311"/>
            <a:ext cx="2534311" cy="206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89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F14F377-0ECF-4DA3-BC32-B18EF7DEE4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2857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-8468" y="2560319"/>
            <a:ext cx="12200467" cy="660689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0903F1C-568E-4080-8C79-B487B35A71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102835" y="4544189"/>
            <a:ext cx="3975953" cy="45402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fld id="{E42970F4-9EF3-4E0A-91E0-2B480D8FBBAF}" type="datetime2">
              <a:rPr lang="zh-CN" altLang="en-US" smtClean="0"/>
              <a:t>2022年1月4日</a:t>
            </a:fld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F58A51-73B7-41F3-A074-0449CB9FBE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" y="5086796"/>
            <a:ext cx="4225394" cy="138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32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95" descr="图片包含 天空, 泰迪熊, 熊, 建筑物&#10;&#10;自动生成的说明">
            <a:extLst>
              <a:ext uri="{FF2B5EF4-FFF2-40B4-BE49-F238E27FC236}">
                <a16:creationId xmlns:a16="http://schemas.microsoft.com/office/drawing/2014/main" id="{EE79199E-F6B2-4AB7-AD45-DF9746ABEC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0" r="23380"/>
          <a:stretch/>
        </p:blipFill>
        <p:spPr>
          <a:xfrm>
            <a:off x="0" y="2109743"/>
            <a:ext cx="3705223" cy="474825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0" y="1"/>
            <a:ext cx="3705225" cy="3230879"/>
            <a:chOff x="0" y="1"/>
            <a:chExt cx="3705225" cy="3230879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1"/>
              <a:ext cx="3705225" cy="21234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2123439"/>
              <a:ext cx="3705225" cy="110744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24" y="2047874"/>
            <a:ext cx="8486775" cy="345757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569118" y="1160150"/>
            <a:ext cx="256698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目  录</a:t>
            </a:r>
            <a:endParaRPr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CONTENT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F58A51-73B7-41F3-A074-0449CB9FBE7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198623"/>
            <a:ext cx="2847974" cy="93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813832" y="0"/>
            <a:ext cx="4824967" cy="6858000"/>
            <a:chOff x="975757" y="0"/>
            <a:chExt cx="4824967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7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ONE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36813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58" y="0"/>
            <a:ext cx="4824967" cy="6858000"/>
          </a:xfrm>
          <a:prstGeom prst="rect">
            <a:avLst/>
          </a:prstGeom>
          <a:effectLst>
            <a:outerShdw blurRad="114300" dist="139700" algn="l" rotWithShape="0">
              <a:prstClr val="black">
                <a:alpha val="20000"/>
              </a:prstClr>
            </a:outerShdw>
          </a:effectLst>
        </p:spPr>
      </p:pic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 userDrawn="1"/>
        </p:nvSpPr>
        <p:spPr>
          <a:xfrm>
            <a:off x="7089775" y="3089701"/>
            <a:ext cx="3645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PART ONE</a:t>
            </a:r>
            <a:endParaRPr lang="zh-CN" alt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5861CDE-5CCC-4EC9-AAE6-4DDC185E1B6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46" y="1068380"/>
            <a:ext cx="1867505" cy="15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80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813833" y="0"/>
            <a:ext cx="4824966" cy="6858000"/>
            <a:chOff x="975758" y="0"/>
            <a:chExt cx="4824966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163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9" y="0"/>
            <a:ext cx="4824966" cy="6858000"/>
            <a:chOff x="975758" y="0"/>
            <a:chExt cx="4824966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2191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813831" y="0"/>
            <a:ext cx="4824967" cy="6858000"/>
            <a:chOff x="813831" y="0"/>
            <a:chExt cx="4824967" cy="6858000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813831" y="0"/>
              <a:ext cx="4824967" cy="6858000"/>
              <a:chOff x="975756" y="0"/>
              <a:chExt cx="4824967" cy="6858000"/>
            </a:xfrm>
          </p:grpSpPr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25000"/>
                        </a14:imgEffect>
                        <a14:imgEffect>
                          <a14:colorTemperature colorTemp="7200"/>
                        </a14:imgEffect>
                        <a14:imgEffect>
                          <a14:brightnessContrast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5756" y="0"/>
                <a:ext cx="4824967" cy="6858000"/>
              </a:xfrm>
              <a:prstGeom prst="rect">
                <a:avLst/>
              </a:prstGeom>
              <a:effectLst>
                <a:outerShdw blurRad="114300" dist="139700" algn="l" rotWithShape="0">
                  <a:prstClr val="black">
                    <a:alpha val="20000"/>
                  </a:prstClr>
                </a:outerShdw>
              </a:effectLst>
            </p:spPr>
          </p:pic>
          <p:sp>
            <p:nvSpPr>
              <p:cNvPr id="11" name="文本框 10"/>
              <p:cNvSpPr txBox="1"/>
              <p:nvPr userDrawn="1"/>
            </p:nvSpPr>
            <p:spPr>
              <a:xfrm>
                <a:off x="1266825" y="3089701"/>
                <a:ext cx="42576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zh-CN" sz="4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j-ea"/>
                  </a:rPr>
                  <a:t>PART THREE</a:t>
                </a:r>
                <a:endParaRPr lang="zh-CN" altLang="en-US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endParaRPr>
              </a:p>
            </p:txBody>
          </p:sp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B5861CDE-5CCC-4EC9-AAE6-4DDC185E1B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6845" y="1068380"/>
                <a:ext cx="1867505" cy="1523492"/>
              </a:xfrm>
              <a:prstGeom prst="rect">
                <a:avLst/>
              </a:prstGeom>
            </p:spPr>
          </p:pic>
        </p:grpSp>
        <p:sp>
          <p:nvSpPr>
            <p:cNvPr id="2" name="矩形 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47578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 userDrawn="1"/>
        </p:nvGrpSpPr>
        <p:grpSpPr>
          <a:xfrm>
            <a:off x="6500256" y="0"/>
            <a:ext cx="4824967" cy="6858000"/>
            <a:chOff x="813831" y="0"/>
            <a:chExt cx="4824967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  <a14:imgEffect>
                        <a14:colorTemperature colorTemp="72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831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矩形 1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500257" y="1068380"/>
            <a:ext cx="4824968" cy="2852318"/>
            <a:chOff x="975756" y="1068380"/>
            <a:chExt cx="4824968" cy="2852318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975756" y="3089701"/>
              <a:ext cx="48249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THREE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94706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821252" y="0"/>
            <a:ext cx="4824969" cy="6858000"/>
            <a:chOff x="975755" y="0"/>
            <a:chExt cx="4824969" cy="685800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9" name="文本框 18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53413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719299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6" y="0"/>
            <a:ext cx="4824969" cy="6858000"/>
            <a:chOff x="975755" y="0"/>
            <a:chExt cx="4824969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8878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1"/>
          </p:nvPr>
        </p:nvSpPr>
        <p:spPr>
          <a:xfrm>
            <a:off x="639763" y="1420813"/>
            <a:ext cx="10964862" cy="4656137"/>
          </a:xfrm>
        </p:spPr>
        <p:txBody>
          <a:bodyPr/>
          <a:lstStyle>
            <a:lvl1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1419"/>
          <a:stretch/>
        </p:blipFill>
        <p:spPr>
          <a:xfrm>
            <a:off x="193905" y="122669"/>
            <a:ext cx="659535" cy="6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56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/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52655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/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4165AA-94F5-4EF4-BE8B-8385615DC60A}"/>
              </a:ext>
            </a:extLst>
          </p:cNvPr>
          <p:cNvSpPr/>
          <p:nvPr userDrawn="1"/>
        </p:nvSpPr>
        <p:spPr>
          <a:xfrm>
            <a:off x="140671" y="6291045"/>
            <a:ext cx="56697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SJTU ICON LIBRARY Copyright © 2021 Invictus. All rights reserved. 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6119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纯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698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F14F377-0ECF-4DA3-BC32-B18EF7DEE4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38871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-8468" y="3503541"/>
            <a:ext cx="12200467" cy="66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2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5409398"/>
          </a:xfrm>
        </p:grpSpPr>
        <p:sp>
          <p:nvSpPr>
            <p:cNvPr id="2" name="矩形 1"/>
            <p:cNvSpPr/>
            <p:nvPr userDrawn="1"/>
          </p:nvSpPr>
          <p:spPr>
            <a:xfrm>
              <a:off x="0" y="3295018"/>
              <a:ext cx="12192000" cy="2114380"/>
            </a:xfrm>
            <a:prstGeom prst="rect">
              <a:avLst/>
            </a:prstGeom>
            <a:gradFill>
              <a:gsLst>
                <a:gs pos="0">
                  <a:schemeClr val="accent1">
                    <a:alpha val="6200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" y="0"/>
              <a:ext cx="12192001" cy="32950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0" y="5877294"/>
            <a:ext cx="12200467" cy="6606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861CDE-5CCC-4EC9-AAE6-4DDC185E1B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640" y="350311"/>
            <a:ext cx="2534311" cy="206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62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756E6-AE62-4EF0-9CF6-DF3EBBB783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76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4518D-F1E1-42FE-ADB3-4B6EED642878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756E6-AE62-4EF0-9CF6-DF3EBBB783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75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3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0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4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5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4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6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1"/>
          <p:cNvSpPr txBox="1"/>
          <p:nvPr/>
        </p:nvSpPr>
        <p:spPr>
          <a:xfrm>
            <a:off x="629285" y="1305019"/>
            <a:ext cx="10982325" cy="1447800"/>
          </a:xfrm>
          <a:prstGeom prst="rect">
            <a:avLst/>
          </a:prstGeom>
        </p:spPr>
        <p:txBody>
          <a:bodyPr lIns="144000" tIns="144000" rIns="144000" bIns="144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冗余度串联机器人建模、分析与控制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文本占位符 11"/>
          <p:cNvSpPr txBox="1"/>
          <p:nvPr/>
        </p:nvSpPr>
        <p:spPr>
          <a:xfrm>
            <a:off x="473709" y="4027546"/>
            <a:ext cx="11293475" cy="772160"/>
          </a:xfrm>
          <a:prstGeom prst="rect">
            <a:avLst/>
          </a:prstGeom>
        </p:spPr>
        <p:txBody>
          <a:bodyPr lIns="144000" tIns="144000" rIns="144000" bIns="144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6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汇报人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: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4098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梅笑寒、任义文、张顾璇、吕管超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4098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750338" y="2447426"/>
            <a:ext cx="697345" cy="697345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accent6"/>
                </a:solidFill>
                <a:latin typeface="+mn-ea"/>
              </a:rPr>
              <a:t>1</a:t>
            </a:r>
            <a:endParaRPr lang="zh-CN" altLang="en-US" sz="3200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750337" y="3590126"/>
            <a:ext cx="697345" cy="697345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accent6"/>
                </a:solidFill>
                <a:latin typeface="+mn-ea"/>
              </a:rPr>
              <a:t>2</a:t>
            </a:r>
            <a:endParaRPr lang="zh-CN" altLang="en-US" sz="3200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654578" y="2447426"/>
            <a:ext cx="5523345" cy="69734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运动学建模（正解、反解）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5654693" y="3589930"/>
            <a:ext cx="6376670" cy="6972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动力学建模与</a:t>
            </a:r>
            <a:r>
              <a:rPr lang="en-US" altLang="zh-CN" sz="3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Simscape</a:t>
            </a:r>
            <a:r>
              <a:rPr lang="zh-CN" altLang="en-US" sz="3200" b="1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仿真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/>
        </p:nvSpPr>
        <p:spPr>
          <a:xfrm>
            <a:off x="451022" y="2056560"/>
            <a:ext cx="5467350" cy="1638300"/>
          </a:xfrm>
          <a:prstGeom prst="rect">
            <a:avLst/>
          </a:prstGeom>
        </p:spPr>
        <p:txBody>
          <a:bodyPr vert="horz" lIns="144000" tIns="144000" rIns="144000" bIns="144000" rtlCol="0" anchor="ctr" anchorCtr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运动学建模（正解、反解）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908343-E5CB-DE59-F0CC-3B0B367718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正运动学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CE377B-E0CA-A9E6-765B-36DD01A78B6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正运动学</a:t>
            </a:r>
            <a:r>
              <a:rPr lang="zh-CN" altLang="en-US" dirty="0"/>
              <a:t>：已知机器人所有关节的角度，计算末端执行器在空间中的位置和姿态。</a:t>
            </a:r>
            <a:endParaRPr lang="en-US" altLang="zh-CN" dirty="0"/>
          </a:p>
          <a:p>
            <a:r>
              <a:rPr lang="zh-CN" altLang="en-US" dirty="0"/>
              <a:t>建立</a:t>
            </a:r>
            <a:r>
              <a:rPr lang="en-US" altLang="zh-CN" dirty="0" err="1"/>
              <a:t>mDH</a:t>
            </a:r>
            <a:r>
              <a:rPr lang="zh-CN" altLang="en-US" dirty="0"/>
              <a:t>参数表，选用</a:t>
            </a:r>
            <a:r>
              <a:rPr lang="en-US" altLang="zh-CN" dirty="0"/>
              <a:t>MDH</a:t>
            </a:r>
            <a:r>
              <a:rPr lang="zh-CN" altLang="en-US" dirty="0"/>
              <a:t>参数法推导齐次变换矩阵</a:t>
            </a:r>
            <a:r>
              <a:rPr lang="en-US" altLang="zh-CN" dirty="0"/>
              <a:t>T</a:t>
            </a:r>
            <a:r>
              <a:rPr lang="zh-CN" altLang="en-US" dirty="0"/>
              <a:t>，从而建立正运动学模型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6716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C160E-1AEF-483C-51C8-FD699DDD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2E5CAA6-5A7A-8FA0-FAC0-F07B87350C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正运动学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297A11-1195-35FC-122A-4BA3DD11CAC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、确立坐标轴</a:t>
                </a:r>
                <a:endParaRPr lang="en-US" altLang="zh-CN" b="1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dirty="0"/>
                  <a:t>轴：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轴始终沿着关节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的轴线方向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轴：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轴建立在关节轴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的公垂线上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轴：右手定则确定，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原点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/>
                  <a:t>位于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轴与公垂线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的交点处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A297A11-1195-35FC-122A-4BA3DD11C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26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正运动学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A43D35-10DE-4624-B953-1DC6AF98FFDF}"/>
              </a:ext>
            </a:extLst>
          </p:cNvPr>
          <p:cNvSpPr/>
          <p:nvPr/>
        </p:nvSpPr>
        <p:spPr>
          <a:xfrm>
            <a:off x="310176" y="1615924"/>
            <a:ext cx="5529372" cy="2183602"/>
          </a:xfrm>
          <a:prstGeom prst="rect">
            <a:avLst/>
          </a:prstGeom>
          <a:solidFill>
            <a:schemeClr val="bg2">
              <a:alpha val="70000"/>
            </a:schemeClr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FD86695-4C2E-4E83-987B-AC1E4A1140B6}"/>
                  </a:ext>
                </a:extLst>
              </p:cNvPr>
              <p:cNvSpPr/>
              <p:nvPr/>
            </p:nvSpPr>
            <p:spPr>
              <a:xfrm>
                <a:off x="310176" y="1615923"/>
                <a:ext cx="5529372" cy="817733"/>
              </a:xfrm>
              <a:prstGeom prst="rect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/>
                    <a:ea typeface="微软雅黑"/>
                    <a:cs typeface="+mn-cs"/>
                  </a:rPr>
                  <a:t>连杆长度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𝒂</m:t>
                        </m:r>
                      </m:e>
                      <m:sub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</m:oMath>
                </a14:m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FD86695-4C2E-4E83-987B-AC1E4A114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76" y="1615923"/>
                <a:ext cx="5529372" cy="8177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DCB0072C-83A7-4675-8984-86603C83FFBF}"/>
                  </a:ext>
                </a:extLst>
              </p:cNvPr>
              <p:cNvSpPr/>
              <p:nvPr/>
            </p:nvSpPr>
            <p:spPr>
              <a:xfrm>
                <a:off x="728498" y="2642636"/>
                <a:ext cx="5000889" cy="51372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几何定义：轴线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与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之间的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公垂线距离</a:t>
                </a: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DCB0072C-83A7-4675-8984-86603C83F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98" y="2642636"/>
                <a:ext cx="5000889" cy="513720"/>
              </a:xfrm>
              <a:prstGeom prst="rect">
                <a:avLst/>
              </a:prstGeom>
              <a:blipFill>
                <a:blip r:embed="rId3"/>
                <a:stretch>
                  <a:fillRect l="-10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CB0072C-83A7-4675-8984-86603C83FFBF}"/>
                  </a:ext>
                </a:extLst>
              </p:cNvPr>
              <p:cNvSpPr/>
              <p:nvPr/>
            </p:nvSpPr>
            <p:spPr>
              <a:xfrm>
                <a:off x="728498" y="3205127"/>
                <a:ext cx="4836974" cy="43201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建立方向：沿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轴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，从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移动到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的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距离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CB0072C-83A7-4675-8984-86603C83F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98" y="3205127"/>
                <a:ext cx="4836974" cy="432010"/>
              </a:xfrm>
              <a:prstGeom prst="rect">
                <a:avLst/>
              </a:prstGeom>
              <a:blipFill>
                <a:blip r:embed="rId4"/>
                <a:stretch>
                  <a:fillRect l="-1135" b="-183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右箭头 10">
            <a:extLst>
              <a:ext uri="{FF2B5EF4-FFF2-40B4-BE49-F238E27FC236}">
                <a16:creationId xmlns:a16="http://schemas.microsoft.com/office/drawing/2014/main" id="{FBD0F9FF-D168-4924-BCDF-DA56664E57A4}"/>
              </a:ext>
            </a:extLst>
          </p:cNvPr>
          <p:cNvSpPr/>
          <p:nvPr/>
        </p:nvSpPr>
        <p:spPr>
          <a:xfrm>
            <a:off x="530493" y="2792006"/>
            <a:ext cx="160865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4F37F205-43D9-4CDF-83F1-29BC10478E9C}"/>
              </a:ext>
            </a:extLst>
          </p:cNvPr>
          <p:cNvSpPr/>
          <p:nvPr/>
        </p:nvSpPr>
        <p:spPr>
          <a:xfrm>
            <a:off x="530493" y="3335443"/>
            <a:ext cx="160865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5" name="TextBox 504">
            <a:extLst>
              <a:ext uri="{FF2B5EF4-FFF2-40B4-BE49-F238E27FC236}">
                <a16:creationId xmlns:a16="http://schemas.microsoft.com/office/drawing/2014/main" id="{803F3C15-EFCA-47A0-A3AF-2069597C181E}"/>
              </a:ext>
            </a:extLst>
          </p:cNvPr>
          <p:cNvSpPr txBox="1"/>
          <p:nvPr/>
        </p:nvSpPr>
        <p:spPr>
          <a:xfrm>
            <a:off x="184050" y="896667"/>
            <a:ext cx="10877795" cy="564890"/>
          </a:xfrm>
          <a:prstGeom prst="rect">
            <a:avLst/>
          </a:prstGeom>
          <a:noFill/>
        </p:spPr>
        <p:txBody>
          <a:bodyPr wrap="square" lIns="91433" tIns="45716" rIns="91433" bIns="45716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MDH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参数的建立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259BA3A-5D53-76E8-4CA3-0A89A86A0D95}"/>
              </a:ext>
            </a:extLst>
          </p:cNvPr>
          <p:cNvSpPr/>
          <p:nvPr/>
        </p:nvSpPr>
        <p:spPr>
          <a:xfrm>
            <a:off x="310176" y="4127984"/>
            <a:ext cx="5529372" cy="2335878"/>
          </a:xfrm>
          <a:prstGeom prst="rect">
            <a:avLst/>
          </a:prstGeom>
          <a:solidFill>
            <a:schemeClr val="bg2">
              <a:alpha val="70000"/>
            </a:schemeClr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D854AB8-0726-26D0-AE27-5530BB432716}"/>
                  </a:ext>
                </a:extLst>
              </p:cNvPr>
              <p:cNvSpPr/>
              <p:nvPr/>
            </p:nvSpPr>
            <p:spPr>
              <a:xfrm>
                <a:off x="310176" y="4127983"/>
                <a:ext cx="5529372" cy="817733"/>
              </a:xfrm>
              <a:prstGeom prst="rect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/>
                    <a:ea typeface="微软雅黑"/>
                    <a:cs typeface="+mn-cs"/>
                  </a:rPr>
                  <a:t>连杆转角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𝜶</m:t>
                        </m:r>
                      </m:e>
                      <m:sub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</m:oMath>
                </a14:m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D854AB8-0726-26D0-AE27-5530BB4327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76" y="4127983"/>
                <a:ext cx="5529372" cy="8177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13D6931-8227-E5E8-F063-7C9A03EAE933}"/>
                  </a:ext>
                </a:extLst>
              </p:cNvPr>
              <p:cNvSpPr/>
              <p:nvPr/>
            </p:nvSpPr>
            <p:spPr>
              <a:xfrm>
                <a:off x="838657" y="5005026"/>
                <a:ext cx="5000889" cy="51372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几何定义：轴线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与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之间的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夹角</a:t>
                </a: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13D6931-8227-E5E8-F063-7C9A03EAE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57" y="5005026"/>
                <a:ext cx="5000889" cy="513720"/>
              </a:xfrm>
              <a:prstGeom prst="rect">
                <a:avLst/>
              </a:prstGeom>
              <a:blipFill>
                <a:blip r:embed="rId6"/>
                <a:stretch>
                  <a:fillRect l="-10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777289EE-E4C4-326F-FCE9-04B4D09CBD0C}"/>
                  </a:ext>
                </a:extLst>
              </p:cNvPr>
              <p:cNvSpPr/>
              <p:nvPr/>
            </p:nvSpPr>
            <p:spPr>
              <a:xfrm>
                <a:off x="838657" y="5551488"/>
                <a:ext cx="4836974" cy="8177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建立方向：绕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轴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，将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旋转到</m:t>
                    </m:r>
                    <m:r>
                      <a:rPr kumimoji="0" lang="zh-CN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与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平行</m:t>
                    </m:r>
                    <m:r>
                      <a:rPr kumimoji="0" lang="zh-CN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所需要的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角度（按右手定则）</a:t>
                </a: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777289EE-E4C4-326F-FCE9-04B4D09CBD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57" y="5551488"/>
                <a:ext cx="4836974" cy="817733"/>
              </a:xfrm>
              <a:prstGeom prst="rect">
                <a:avLst/>
              </a:prstGeom>
              <a:blipFill>
                <a:blip r:embed="rId7"/>
                <a:stretch>
                  <a:fillRect l="-1135" b="-67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右箭头 10">
            <a:extLst>
              <a:ext uri="{FF2B5EF4-FFF2-40B4-BE49-F238E27FC236}">
                <a16:creationId xmlns:a16="http://schemas.microsoft.com/office/drawing/2014/main" id="{30BC08B0-5669-3BC4-CCAC-B15A26869C5D}"/>
              </a:ext>
            </a:extLst>
          </p:cNvPr>
          <p:cNvSpPr/>
          <p:nvPr/>
        </p:nvSpPr>
        <p:spPr>
          <a:xfrm>
            <a:off x="530492" y="5154396"/>
            <a:ext cx="160865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1" name="右箭头 11">
            <a:extLst>
              <a:ext uri="{FF2B5EF4-FFF2-40B4-BE49-F238E27FC236}">
                <a16:creationId xmlns:a16="http://schemas.microsoft.com/office/drawing/2014/main" id="{D4FE0D70-3D17-3990-BDF5-FDDF531D3CA5}"/>
              </a:ext>
            </a:extLst>
          </p:cNvPr>
          <p:cNvSpPr/>
          <p:nvPr/>
        </p:nvSpPr>
        <p:spPr>
          <a:xfrm>
            <a:off x="530492" y="5697833"/>
            <a:ext cx="160865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29FCDAD-9964-A104-8033-1BCB619322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3953" y="1940390"/>
            <a:ext cx="6003416" cy="42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82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ADAAA-B3D7-82B7-1275-4E7BD317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31FA6F-E97E-C4E5-79A7-5F9BD17C75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正运动学</a:t>
            </a:r>
          </a:p>
        </p:txBody>
      </p:sp>
      <p:sp>
        <p:nvSpPr>
          <p:cNvPr id="25" name="TextBox 504">
            <a:extLst>
              <a:ext uri="{FF2B5EF4-FFF2-40B4-BE49-F238E27FC236}">
                <a16:creationId xmlns:a16="http://schemas.microsoft.com/office/drawing/2014/main" id="{223BC242-1C52-545B-5D18-7607254CF354}"/>
              </a:ext>
            </a:extLst>
          </p:cNvPr>
          <p:cNvSpPr txBox="1"/>
          <p:nvPr/>
        </p:nvSpPr>
        <p:spPr>
          <a:xfrm>
            <a:off x="184050" y="896667"/>
            <a:ext cx="10877795" cy="564890"/>
          </a:xfrm>
          <a:prstGeom prst="rect">
            <a:avLst/>
          </a:prstGeom>
          <a:noFill/>
        </p:spPr>
        <p:txBody>
          <a:bodyPr wrap="square" lIns="91433" tIns="45716" rIns="91433" bIns="45716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MDH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参数的建立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95DA16D4-A2B1-3302-120D-3165FDD7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53" y="1940390"/>
            <a:ext cx="6003416" cy="4217527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9D27D7C4-5604-ECFD-900F-63736525CE43}"/>
              </a:ext>
            </a:extLst>
          </p:cNvPr>
          <p:cNvSpPr/>
          <p:nvPr/>
        </p:nvSpPr>
        <p:spPr>
          <a:xfrm>
            <a:off x="266032" y="1609378"/>
            <a:ext cx="5529372" cy="2183602"/>
          </a:xfrm>
          <a:prstGeom prst="rect">
            <a:avLst/>
          </a:prstGeom>
          <a:solidFill>
            <a:schemeClr val="bg2">
              <a:alpha val="70000"/>
            </a:schemeClr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819C4D4-C4C0-E4A5-5FBF-F752B9BAF8F0}"/>
                  </a:ext>
                </a:extLst>
              </p:cNvPr>
              <p:cNvSpPr/>
              <p:nvPr/>
            </p:nvSpPr>
            <p:spPr>
              <a:xfrm>
                <a:off x="259726" y="1609377"/>
                <a:ext cx="5529372" cy="817733"/>
              </a:xfrm>
              <a:prstGeom prst="rect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/>
                    <a:ea typeface="微软雅黑"/>
                    <a:cs typeface="+mn-cs"/>
                  </a:rPr>
                  <a:t>连杆偏置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𝒅</m:t>
                        </m:r>
                      </m:e>
                      <m:sub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</m:sub>
                    </m:sSub>
                  </m:oMath>
                </a14:m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819C4D4-C4C0-E4A5-5FBF-F752B9BAF8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26" y="1609377"/>
                <a:ext cx="5529372" cy="817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BF2EB3FC-7D00-2388-04F7-B54FE534F195}"/>
                  </a:ext>
                </a:extLst>
              </p:cNvPr>
              <p:cNvSpPr/>
              <p:nvPr/>
            </p:nvSpPr>
            <p:spPr>
              <a:xfrm>
                <a:off x="678049" y="2636090"/>
                <a:ext cx="5221207" cy="51372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几何定义：公垂线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与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公垂线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在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轴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上的距离</a:t>
                </a: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BF2EB3FC-7D00-2388-04F7-B54FE534F1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49" y="2636090"/>
                <a:ext cx="5221207" cy="513720"/>
              </a:xfrm>
              <a:prstGeom prst="rect">
                <a:avLst/>
              </a:prstGeom>
              <a:blipFill>
                <a:blip r:embed="rId4"/>
                <a:stretch>
                  <a:fillRect l="-9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53287CA-143A-B036-B51C-4ABBE0D91169}"/>
                  </a:ext>
                </a:extLst>
              </p:cNvPr>
              <p:cNvSpPr/>
              <p:nvPr/>
            </p:nvSpPr>
            <p:spPr>
              <a:xfrm>
                <a:off x="678049" y="3182769"/>
                <a:ext cx="4836974" cy="43201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建立方向：沿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轴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，从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移动到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的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距离</a:t>
                </a:r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53287CA-143A-B036-B51C-4ABBE0D91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49" y="3182769"/>
                <a:ext cx="4836974" cy="432010"/>
              </a:xfrm>
              <a:prstGeom prst="rect">
                <a:avLst/>
              </a:prstGeom>
              <a:blipFill>
                <a:blip r:embed="rId5"/>
                <a:stretch>
                  <a:fillRect l="-1008" b="-183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右箭头 10">
            <a:extLst>
              <a:ext uri="{FF2B5EF4-FFF2-40B4-BE49-F238E27FC236}">
                <a16:creationId xmlns:a16="http://schemas.microsoft.com/office/drawing/2014/main" id="{73B086F8-7F7F-9B87-5C03-EE18EC599F59}"/>
              </a:ext>
            </a:extLst>
          </p:cNvPr>
          <p:cNvSpPr/>
          <p:nvPr/>
        </p:nvSpPr>
        <p:spPr>
          <a:xfrm>
            <a:off x="480043" y="2785460"/>
            <a:ext cx="160865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7" name="右箭头 11">
            <a:extLst>
              <a:ext uri="{FF2B5EF4-FFF2-40B4-BE49-F238E27FC236}">
                <a16:creationId xmlns:a16="http://schemas.microsoft.com/office/drawing/2014/main" id="{BCBA1F45-C242-CBED-033D-B2BD44C7C18E}"/>
              </a:ext>
            </a:extLst>
          </p:cNvPr>
          <p:cNvSpPr/>
          <p:nvPr/>
        </p:nvSpPr>
        <p:spPr>
          <a:xfrm>
            <a:off x="480043" y="3328897"/>
            <a:ext cx="160865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06A4A1F-84CB-C22A-52F1-57EC9A112945}"/>
              </a:ext>
            </a:extLst>
          </p:cNvPr>
          <p:cNvSpPr/>
          <p:nvPr/>
        </p:nvSpPr>
        <p:spPr>
          <a:xfrm>
            <a:off x="259726" y="4001961"/>
            <a:ext cx="5529372" cy="2493432"/>
          </a:xfrm>
          <a:prstGeom prst="rect">
            <a:avLst/>
          </a:prstGeom>
          <a:solidFill>
            <a:schemeClr val="bg2">
              <a:alpha val="70000"/>
            </a:schemeClr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C7FB6685-6123-3370-105A-A41B9B303CBF}"/>
                  </a:ext>
                </a:extLst>
              </p:cNvPr>
              <p:cNvSpPr/>
              <p:nvPr/>
            </p:nvSpPr>
            <p:spPr>
              <a:xfrm>
                <a:off x="259726" y="4001960"/>
                <a:ext cx="5529372" cy="817733"/>
              </a:xfrm>
              <a:prstGeom prst="rect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/>
                    <a:ea typeface="微软雅黑"/>
                    <a:cs typeface="+mn-cs"/>
                  </a:rPr>
                  <a:t>关节角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𝜽</m:t>
                        </m:r>
                      </m:e>
                      <m:sub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</m:sub>
                    </m:sSub>
                  </m:oMath>
                </a14:m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C7FB6685-6123-3370-105A-A41B9B303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26" y="4001960"/>
                <a:ext cx="5529372" cy="8177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D1C6E19D-0C86-174E-9730-62BC6217BA23}"/>
                  </a:ext>
                </a:extLst>
              </p:cNvPr>
              <p:cNvSpPr/>
              <p:nvPr/>
            </p:nvSpPr>
            <p:spPr>
              <a:xfrm>
                <a:off x="706250" y="5061416"/>
                <a:ext cx="5133177" cy="51372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几何定义：公垂线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与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公垂线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在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轴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上的距离</a:t>
                </a:r>
              </a:p>
            </p:txBody>
          </p:sp>
        </mc:Choice>
        <mc:Fallback xmlns=""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D1C6E19D-0C86-174E-9730-62BC6217B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50" y="5061416"/>
                <a:ext cx="5133177" cy="513720"/>
              </a:xfrm>
              <a:prstGeom prst="rect">
                <a:avLst/>
              </a:prstGeom>
              <a:blipFill>
                <a:blip r:embed="rId7"/>
                <a:stretch>
                  <a:fillRect l="-1069" r="-9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09AF318B-B875-CE06-E7F0-00E2CFA69B8F}"/>
                  </a:ext>
                </a:extLst>
              </p:cNvPr>
              <p:cNvSpPr/>
              <p:nvPr/>
            </p:nvSpPr>
            <p:spPr>
              <a:xfrm>
                <a:off x="706249" y="5575351"/>
                <a:ext cx="4829549" cy="76261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建立方向：绕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𝑍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轴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，将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−1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旋转到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zh-CN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平行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</a:rPr>
                  <a:t>所需的角度</a:t>
                </a: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09AF318B-B875-CE06-E7F0-00E2CFA69B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49" y="5575351"/>
                <a:ext cx="4829549" cy="762619"/>
              </a:xfrm>
              <a:prstGeom prst="rect">
                <a:avLst/>
              </a:prstGeom>
              <a:blipFill>
                <a:blip r:embed="rId8"/>
                <a:stretch>
                  <a:fillRect l="-1136" b="-144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右箭头 10">
            <a:extLst>
              <a:ext uri="{FF2B5EF4-FFF2-40B4-BE49-F238E27FC236}">
                <a16:creationId xmlns:a16="http://schemas.microsoft.com/office/drawing/2014/main" id="{0AC4842D-46A8-077B-D2B8-06DE5FFC8F6C}"/>
              </a:ext>
            </a:extLst>
          </p:cNvPr>
          <p:cNvSpPr/>
          <p:nvPr/>
        </p:nvSpPr>
        <p:spPr>
          <a:xfrm>
            <a:off x="480043" y="5178043"/>
            <a:ext cx="160865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3" name="右箭头 11">
            <a:extLst>
              <a:ext uri="{FF2B5EF4-FFF2-40B4-BE49-F238E27FC236}">
                <a16:creationId xmlns:a16="http://schemas.microsoft.com/office/drawing/2014/main" id="{B8EB5A37-6015-187A-EC34-E5A10279DE72}"/>
              </a:ext>
            </a:extLst>
          </p:cNvPr>
          <p:cNvSpPr/>
          <p:nvPr/>
        </p:nvSpPr>
        <p:spPr>
          <a:xfrm>
            <a:off x="480043" y="5721480"/>
            <a:ext cx="160865" cy="21498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343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9E48-80E1-93BA-D96F-F62E57AE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D8C1F4C-6068-0225-C3BA-66CDA6561D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正运动学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9F4ADA-E814-C339-8422-393AC9C5F01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340780" y="1159443"/>
                <a:ext cx="10964862" cy="465613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3</a:t>
                </a:r>
                <a:r>
                  <a:rPr lang="zh-CN" altLang="en-US" b="1" dirty="0"/>
                  <a:t>、得到变换矩阵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旋转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zh-CN" altLang="en-US" dirty="0"/>
                  <a:t>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平移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绕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旋转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→沿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平移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数学表达式：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9F4ADA-E814-C339-8422-393AC9C5F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340780" y="1159443"/>
                <a:ext cx="10964862" cy="4656137"/>
              </a:xfrm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3D56DBF-CBE8-9F16-3A95-A8F8164651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7829" y="2661194"/>
          <a:ext cx="8797160" cy="580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48040" imgH="253800" progId="Equation.DSMT4">
                  <p:embed/>
                </p:oleObj>
              </mc:Choice>
              <mc:Fallback>
                <p:oleObj name="Equation" r:id="rId3" imgW="384804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3D56DBF-CBE8-9F16-3A95-A8F8164651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7829" y="2661194"/>
                        <a:ext cx="8797160" cy="580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6731A4E-AE39-A886-5337-4F629E5488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1234" y="3777418"/>
          <a:ext cx="8578612" cy="20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46160" imgH="914400" progId="Equation.DSMT4">
                  <p:embed/>
                </p:oleObj>
              </mc:Choice>
              <mc:Fallback>
                <p:oleObj name="Equation" r:id="rId5" imgW="3746160" imgH="914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6731A4E-AE39-A886-5337-4F629E5488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1234" y="3777418"/>
                        <a:ext cx="8578612" cy="2093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121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正运动学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4403590"/>
                  </p:ext>
                </p:extLst>
              </p:nvPr>
            </p:nvGraphicFramePr>
            <p:xfrm>
              <a:off x="797502" y="2149321"/>
              <a:ext cx="7398728" cy="39008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49682">
                      <a:extLst>
                        <a:ext uri="{9D8B030D-6E8A-4147-A177-3AD203B41FA5}">
                          <a16:colId xmlns:a16="http://schemas.microsoft.com/office/drawing/2014/main" val="104970801"/>
                        </a:ext>
                      </a:extLst>
                    </a:gridCol>
                    <a:gridCol w="1849682">
                      <a:extLst>
                        <a:ext uri="{9D8B030D-6E8A-4147-A177-3AD203B41FA5}">
                          <a16:colId xmlns:a16="http://schemas.microsoft.com/office/drawing/2014/main" val="936325623"/>
                        </a:ext>
                      </a:extLst>
                    </a:gridCol>
                    <a:gridCol w="1849682">
                      <a:extLst>
                        <a:ext uri="{9D8B030D-6E8A-4147-A177-3AD203B41FA5}">
                          <a16:colId xmlns:a16="http://schemas.microsoft.com/office/drawing/2014/main" val="1216478457"/>
                        </a:ext>
                      </a:extLst>
                    </a:gridCol>
                    <a:gridCol w="1849682">
                      <a:extLst>
                        <a:ext uri="{9D8B030D-6E8A-4147-A177-3AD203B41FA5}">
                          <a16:colId xmlns:a16="http://schemas.microsoft.com/office/drawing/2014/main" val="4156866581"/>
                        </a:ext>
                      </a:extLst>
                    </a:gridCol>
                  </a:tblGrid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关节</a:t>
                          </a:r>
                          <a:r>
                            <a:rPr lang="en-US" altLang="zh-CN" dirty="0" err="1"/>
                            <a:t>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zh-CN" altLang="en-US" b="1" i="1" dirty="0" smtClean="0">
                                    <a:latin typeface="Cambria Math" panose="02040503050406030204" pitchFamily="18" charset="0"/>
                                  </a:rPr>
                                  <m:t>）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𝒓𝒂𝒅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3596768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-0.1564-0.1284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434106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-0.0054-0.0064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4873627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-0.2104-0.2104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6988299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-0.0064-0.0064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4167647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-0.2084-0.1059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822218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4031747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-0.0615-0.1059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9162049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末端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80150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4403590"/>
                  </p:ext>
                </p:extLst>
              </p:nvPr>
            </p:nvGraphicFramePr>
            <p:xfrm>
              <a:off x="797502" y="2149321"/>
              <a:ext cx="7398728" cy="39008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49682">
                      <a:extLst>
                        <a:ext uri="{9D8B030D-6E8A-4147-A177-3AD203B41FA5}">
                          <a16:colId xmlns:a16="http://schemas.microsoft.com/office/drawing/2014/main" val="104970801"/>
                        </a:ext>
                      </a:extLst>
                    </a:gridCol>
                    <a:gridCol w="1849682">
                      <a:extLst>
                        <a:ext uri="{9D8B030D-6E8A-4147-A177-3AD203B41FA5}">
                          <a16:colId xmlns:a16="http://schemas.microsoft.com/office/drawing/2014/main" val="936325623"/>
                        </a:ext>
                      </a:extLst>
                    </a:gridCol>
                    <a:gridCol w="1849682">
                      <a:extLst>
                        <a:ext uri="{9D8B030D-6E8A-4147-A177-3AD203B41FA5}">
                          <a16:colId xmlns:a16="http://schemas.microsoft.com/office/drawing/2014/main" val="1216478457"/>
                        </a:ext>
                      </a:extLst>
                    </a:gridCol>
                    <a:gridCol w="1849682">
                      <a:extLst>
                        <a:ext uri="{9D8B030D-6E8A-4147-A177-3AD203B41FA5}">
                          <a16:colId xmlns:a16="http://schemas.microsoft.com/office/drawing/2014/main" val="4156866581"/>
                        </a:ext>
                      </a:extLst>
                    </a:gridCol>
                  </a:tblGrid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关节</a:t>
                          </a:r>
                          <a:r>
                            <a:rPr lang="en-US" altLang="zh-CN" dirty="0" err="1"/>
                            <a:t>i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329" t="-7042" r="-200987" b="-808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7042" r="-101650" b="-808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7042" r="-1316" b="-8084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596768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107042" r="-101650" b="-708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-0.1564-0.1284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434106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204167" r="-101650" b="-5986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-0.0054-0.0064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4873627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308451" r="-101650" b="-50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-0.2104-0.2104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6988299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408451" r="-101650" b="-40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-0.0064-0.0064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4167647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508451" r="-101650" b="-30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-0.2084-0.1059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822218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6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600000" r="-10165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4031747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7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709859" r="-101650" b="-10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-0.0615-0.1059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9162049"/>
                      </a:ext>
                    </a:extLst>
                  </a:tr>
                  <a:tr h="4334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末端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990" t="-809859" r="-101650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80150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A851A667-BB20-3D09-4A6A-C21931309B92}"/>
              </a:ext>
            </a:extLst>
          </p:cNvPr>
          <p:cNvSpPr txBox="1"/>
          <p:nvPr/>
        </p:nvSpPr>
        <p:spPr>
          <a:xfrm>
            <a:off x="3028380" y="1241156"/>
            <a:ext cx="2408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MDH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参数表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B66372-ECAC-60FE-26CC-979B8FDCF3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77"/>
          <a:stretch>
            <a:fillRect/>
          </a:stretch>
        </p:blipFill>
        <p:spPr>
          <a:xfrm>
            <a:off x="9253111" y="1502766"/>
            <a:ext cx="1406240" cy="470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5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11A1-07BA-C27B-2E6B-38E5FC1F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CE25B66-61F6-E37C-9823-65EBDAAB0F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4854"/>
            <a:ext cx="12192000" cy="781049"/>
          </a:xfrm>
        </p:spPr>
        <p:txBody>
          <a:bodyPr/>
          <a:lstStyle/>
          <a:p>
            <a:r>
              <a:rPr lang="zh-CN" altLang="en-US" dirty="0"/>
              <a:t>运动学逆解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A155D3-3CCD-8A4C-7280-D7412B06B694}"/>
              </a:ext>
            </a:extLst>
          </p:cNvPr>
          <p:cNvSpPr txBox="1"/>
          <p:nvPr/>
        </p:nvSpPr>
        <p:spPr>
          <a:xfrm>
            <a:off x="178542" y="995137"/>
            <a:ext cx="11729518" cy="5517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方案选取：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微软雅黑"/>
              </a:rPr>
              <a:t>逆运动学的经典求解方法有解析法和数值法两种。</a:t>
            </a:r>
            <a:endParaRPr lang="en-US" altLang="zh-CN" sz="2800" dirty="0">
              <a:solidFill>
                <a:srgbClr val="000000"/>
              </a:solidFill>
              <a:latin typeface="Arial"/>
              <a:ea typeface="微软雅黑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E2C01C-6E37-F38C-38D2-C7C30CDC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53781C-E1F6-4315-A39D-61273F2E0596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E09126B-6E1B-1E62-B887-0242F02AA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003597"/>
              </p:ext>
            </p:extLst>
          </p:nvPr>
        </p:nvGraphicFramePr>
        <p:xfrm>
          <a:off x="680098" y="2540235"/>
          <a:ext cx="10831803" cy="39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951">
                  <a:extLst>
                    <a:ext uri="{9D8B030D-6E8A-4147-A177-3AD203B41FA5}">
                      <a16:colId xmlns:a16="http://schemas.microsoft.com/office/drawing/2014/main" val="4114322953"/>
                    </a:ext>
                  </a:extLst>
                </a:gridCol>
                <a:gridCol w="2707951">
                  <a:extLst>
                    <a:ext uri="{9D8B030D-6E8A-4147-A177-3AD203B41FA5}">
                      <a16:colId xmlns:a16="http://schemas.microsoft.com/office/drawing/2014/main" val="4069778192"/>
                    </a:ext>
                  </a:extLst>
                </a:gridCol>
                <a:gridCol w="2470314">
                  <a:extLst>
                    <a:ext uri="{9D8B030D-6E8A-4147-A177-3AD203B41FA5}">
                      <a16:colId xmlns:a16="http://schemas.microsoft.com/office/drawing/2014/main" val="3382715018"/>
                    </a:ext>
                  </a:extLst>
                </a:gridCol>
                <a:gridCol w="2945587">
                  <a:extLst>
                    <a:ext uri="{9D8B030D-6E8A-4147-A177-3AD203B41FA5}">
                      <a16:colId xmlns:a16="http://schemas.microsoft.com/office/drawing/2014/main" val="2884764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1800" dirty="0"/>
                        <a:t>思路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dirty="0"/>
                        <a:t>核心思想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dirty="0"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dirty="0"/>
                        <a:t>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791877"/>
                  </a:ext>
                </a:extLst>
              </a:tr>
              <a:tr h="1885667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解析法</a:t>
                      </a:r>
                    </a:p>
                  </a:txBody>
                  <a:tcPr marL="0" marR="87403" marT="54746" marB="547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固定一个冗余参数（如臂</a:t>
                      </a:r>
                    </a:p>
                    <a:p>
                      <a:pPr>
                        <a:lnSpc>
                          <a:spcPts val="1070"/>
                        </a:lnSpc>
                      </a:pPr>
                      <a:endParaRPr lang="zh-CN" altLang="en-US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角），将</a:t>
                      </a:r>
                      <a:r>
                        <a:rPr lang="en-US" altLang="zh-CN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7DOF</a:t>
                      </a: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降为</a:t>
                      </a:r>
                    </a:p>
                    <a:p>
                      <a:pPr>
                        <a:lnSpc>
                          <a:spcPts val="1070"/>
                        </a:lnSpc>
                      </a:pPr>
                      <a:endParaRPr lang="en-US" altLang="zh-CN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1070"/>
                        </a:lnSpc>
                      </a:pPr>
                      <a:r>
                        <a:rPr lang="en-US" altLang="zh-CN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6DOF</a:t>
                      </a: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，得到封闭解</a:t>
                      </a:r>
                    </a:p>
                  </a:txBody>
                  <a:tcPr marL="87403" marR="87403" marT="54746" marB="547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计算快，适合实时控制</a:t>
                      </a:r>
                    </a:p>
                  </a:txBody>
                  <a:tcPr marL="87403" marR="87403" marT="54746" marB="547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在线轨迹跟踪时快速求逆</a:t>
                      </a:r>
                    </a:p>
                  </a:txBody>
                  <a:tcPr marL="87403" marR="0" marT="54746" marB="54746" anchor="ctr"/>
                </a:tc>
                <a:extLst>
                  <a:ext uri="{0D108BD9-81ED-4DB2-BD59-A6C34878D82A}">
                    <a16:rowId xmlns:a16="http://schemas.microsoft.com/office/drawing/2014/main" val="138023348"/>
                  </a:ext>
                </a:extLst>
              </a:tr>
              <a:tr h="1674348"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数值优化法</a:t>
                      </a:r>
                    </a:p>
                  </a:txBody>
                  <a:tcPr marL="0" marR="87403" marT="54746" marB="547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构造目标函数（如最小关</a:t>
                      </a:r>
                    </a:p>
                    <a:p>
                      <a:pPr>
                        <a:lnSpc>
                          <a:spcPts val="1070"/>
                        </a:lnSpc>
                      </a:pPr>
                      <a:endParaRPr lang="zh-CN" altLang="en-US" sz="18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节变动），用迭代法逼近</a:t>
                      </a:r>
                    </a:p>
                    <a:p>
                      <a:pPr>
                        <a:lnSpc>
                          <a:spcPts val="1070"/>
                        </a:lnSpc>
                      </a:pPr>
                      <a:endParaRPr lang="zh-CN" altLang="en-US" sz="18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满足位姿误差的解</a:t>
                      </a:r>
                    </a:p>
                  </a:txBody>
                  <a:tcPr marL="87403" marR="87403" marT="54746" marB="547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灵活处理关节限位、避障等约束</a:t>
                      </a:r>
                    </a:p>
                  </a:txBody>
                  <a:tcPr marL="87403" marR="87403" marT="54746" marB="547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离线轨迹规划，处理严格</a:t>
                      </a:r>
                    </a:p>
                    <a:p>
                      <a:pPr>
                        <a:lnSpc>
                          <a:spcPts val="1070"/>
                        </a:lnSpc>
                      </a:pPr>
                      <a:endParaRPr lang="zh-CN" altLang="en-US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1070"/>
                        </a:lnSpc>
                      </a:pPr>
                      <a:r>
                        <a:rPr lang="zh-CN" altLang="en-US" sz="1800" b="0" i="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路径点</a:t>
                      </a:r>
                    </a:p>
                  </a:txBody>
                  <a:tcPr marL="87403" marR="0" marT="54746" marB="54746" anchor="ctr"/>
                </a:tc>
                <a:extLst>
                  <a:ext uri="{0D108BD9-81ED-4DB2-BD59-A6C34878D82A}">
                    <a16:rowId xmlns:a16="http://schemas.microsoft.com/office/drawing/2014/main" val="4036470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15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5BE11D2-D990-C41C-56B0-6EC5384659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DB13B-CCED-75EF-9042-E68584BE7C5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9763" y="1420813"/>
            <a:ext cx="8131013" cy="46561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由于我们没有简化</a:t>
            </a:r>
            <a:r>
              <a:rPr lang="en-US" altLang="zh-CN" dirty="0" err="1"/>
              <a:t>urdf</a:t>
            </a:r>
            <a:r>
              <a:rPr lang="zh-CN" altLang="en-US" dirty="0"/>
              <a:t>文件中的偏置项，所以机器人模型中只存在‘球形腕部’（即三轴交于一点），而不存在‘球形肩部’，所以传统的臂角法并不适用。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但我们仍然想使用解析法求解逆运动学。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方案：（</a:t>
            </a:r>
            <a:r>
              <a:rPr lang="en-US" altLang="zh-CN" dirty="0"/>
              <a:t>1</a:t>
            </a:r>
            <a:r>
              <a:rPr lang="zh-CN" altLang="en-US" dirty="0"/>
              <a:t>）利用球形手腕进行位置解耦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）引入虚拟臂角，进行一维数值迭代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 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）解析求解剩余关节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55A85B-B0A6-E722-CA5C-9776818B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11</a:t>
            </a:fld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B721F8-69B7-DAA2-A3A9-6B0DF758E2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77"/>
          <a:stretch>
            <a:fillRect/>
          </a:stretch>
        </p:blipFill>
        <p:spPr>
          <a:xfrm>
            <a:off x="9088011" y="-1"/>
            <a:ext cx="204813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40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810E45-CF27-D4A5-ECB2-6159CCF771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CD06EC-6ACB-8E5F-2CB3-8FD339D61E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/>
              <a:t>解析法没有成功求解机械臂的逆运动学后，我们转而选择数值方法求解。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求解思路：</a:t>
            </a:r>
            <a:r>
              <a:rPr lang="en-US" altLang="zh-CN" dirty="0"/>
              <a:t>1</a:t>
            </a:r>
            <a:r>
              <a:rPr lang="zh-CN" altLang="en-US" dirty="0"/>
              <a:t>、从初值出发，计算当前末端位置与姿态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2</a:t>
            </a:r>
            <a:r>
              <a:rPr lang="zh-CN" altLang="en-US" dirty="0"/>
              <a:t>、计算位置与姿态误差。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3</a:t>
            </a:r>
            <a:r>
              <a:rPr lang="zh-CN" altLang="en-US" dirty="0"/>
              <a:t>、计算雅可比矩阵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4</a:t>
            </a:r>
            <a:r>
              <a:rPr lang="zh-CN" altLang="en-US" dirty="0"/>
              <a:t>、阻尼最小二乘法计算迭代步长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</a:p>
          <a:p>
            <a:pPr marL="0" indent="0">
              <a:buNone/>
            </a:pPr>
            <a:r>
              <a:rPr lang="en-US" altLang="zh-CN" dirty="0"/>
              <a:t>		5</a:t>
            </a:r>
            <a:r>
              <a:rPr lang="zh-CN" altLang="en-US" dirty="0"/>
              <a:t>、更新各个关节角度后，回到第一步。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CC0882-4B92-F0A6-B82F-6D7BC611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12</a:t>
            </a:fld>
            <a:endParaRPr lang="zh-CN" altLang="en-US" sz="16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98F1D3F-65E9-4716-9591-DD60E1F51C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599436"/>
              </p:ext>
            </p:extLst>
          </p:nvPr>
        </p:nvGraphicFramePr>
        <p:xfrm>
          <a:off x="3397250" y="4650316"/>
          <a:ext cx="5397500" cy="899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228600" progId="Equation.DSMT4">
                  <p:embed/>
                </p:oleObj>
              </mc:Choice>
              <mc:Fallback>
                <p:oleObj name="Equation" r:id="rId2" imgW="1371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97250" y="4650316"/>
                        <a:ext cx="5397500" cy="899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4958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B27D92D-7743-3CC6-075B-8A9851D58B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C672C1-77BD-8EBB-2804-FF8FD29A3EF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613569" y="1420813"/>
                <a:ext cx="10964862" cy="465613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为了避免欧拉角的万向死锁问题，以及便于后续轨迹插值方便，选用四元数来描述末端姿态。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、四元数：</a:t>
                </a:r>
                <a:r>
                  <a:rPr lang="zh-CN" altLang="en-US" dirty="0"/>
                  <a:t>一个四元数 </a:t>
                </a:r>
                <a14:m>
                  <m:oMath xmlns:m="http://schemas.openxmlformats.org/officeDocument/2006/math">
                    <m:r>
                      <a:rPr lang="zh-CN" altLang="en-US" b="1"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lang="zh-CN" altLang="en-US" dirty="0"/>
                  <a:t> 由一个实部和三个虚部组成，通常写作：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在表达三维旋转时，一般只使用单位四元数，即满足模长为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的四元数：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𝐪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ar-AE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C672C1-77BD-8EBB-2804-FF8FD29A3E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613569" y="1420813"/>
                <a:ext cx="10964862" cy="4656137"/>
              </a:xfrm>
              <a:blipFill>
                <a:blip r:embed="rId2"/>
                <a:stretch>
                  <a:fillRect l="-1001" t="-1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C04172-9A45-4D26-99D3-88F69695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13</a:t>
            </a:fld>
            <a:endParaRPr lang="zh-CN" altLang="en-US" sz="16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99FA9F-17A2-5EF0-978B-4FFE99E60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837010"/>
              </p:ext>
            </p:extLst>
          </p:nvPr>
        </p:nvGraphicFramePr>
        <p:xfrm>
          <a:off x="2728676" y="3149142"/>
          <a:ext cx="673464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280" imgH="253800" progId="Equation.DSMT4">
                  <p:embed/>
                </p:oleObj>
              </mc:Choice>
              <mc:Fallback>
                <p:oleObj name="Equation" r:id="rId3" imgW="2006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28676" y="3149142"/>
                        <a:ext cx="6734647" cy="85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2922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BE5DAA9-FC82-DC15-8961-65DF4CC7C2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AE90645-2B8F-1C01-A16D-B78178CEDF5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、四元数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b="1" dirty="0"/>
                  <a:t>Euler</a:t>
                </a:r>
                <a:r>
                  <a:rPr lang="zh-CN" altLang="en-US" b="1" dirty="0"/>
                  <a:t>旋转定理</a:t>
                </a:r>
                <a:r>
                  <a:rPr lang="zh-CN" altLang="en-US" dirty="0"/>
                  <a:t>：三维空间中的任意旋转都可以用 </a:t>
                </a:r>
                <a:r>
                  <a:rPr lang="zh-CN" altLang="en-US" b="1" dirty="0"/>
                  <a:t>绕一个单位轴 </a:t>
                </a:r>
                <a14:m>
                  <m:oMath xmlns:m="http://schemas.openxmlformats.org/officeDocument/2006/math">
                    <m:r>
                      <a:rPr lang="zh-CN" altLang="en-US" b="1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zh-C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ar-AE" altLang="zh-C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ar-AE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zh-CN" altLang="ar-AE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ar-AE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zh-CN" altLang="ar-AE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ar-AE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zh-CN" altLang="ar-AE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ar-AE" altLang="zh-CN" b="1" dirty="0"/>
                  <a:t> </a:t>
                </a:r>
                <a:r>
                  <a:rPr lang="zh-CN" altLang="en-US" b="1" dirty="0"/>
                  <a:t>旋转一个角度 </a:t>
                </a:r>
                <a14:m>
                  <m:oMath xmlns:m="http://schemas.openxmlformats.org/officeDocument/2006/math">
                    <m:r>
                      <a:rPr lang="zh-CN" alt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/>
                  <a:t> 来表示（即轴角表示法 ）。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单位四元数与轴角的映射关系定义为：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AE90645-2B8F-1C01-A16D-B78178CEDF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99A0F-8834-A07C-2677-E93BBF8F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14</a:t>
            </a:fld>
            <a:endParaRPr lang="zh-CN" altLang="en-US" sz="16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41540C6-2A67-90AD-229E-5E319AD2D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636979"/>
              </p:ext>
            </p:extLst>
          </p:nvPr>
        </p:nvGraphicFramePr>
        <p:xfrm>
          <a:off x="6648450" y="3267726"/>
          <a:ext cx="2584450" cy="3026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1650960" progId="Equation.DSMT4">
                  <p:embed/>
                </p:oleObj>
              </mc:Choice>
              <mc:Fallback>
                <p:oleObj name="Equation" r:id="rId3" imgW="1409400" imgH="1650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48450" y="3267726"/>
                        <a:ext cx="2584450" cy="3026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0389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F9A0-1789-F916-2949-2A2B811C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BD39459-9D71-2D9D-D8AA-8069C1F940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C2BFCB-11B2-CAA1-C990-00ACB3C7811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352425" y="992126"/>
                <a:ext cx="11268297" cy="48737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、四元数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旋转矩阵如何转换为四元数（标准转换公式）：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矩阵的迹为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0"/>
                      <m:t>Tr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zh-CN" altLang="ar-AE" dirty="0"/>
                  <a:t>。</a:t>
                </a:r>
                <a:r>
                  <a:rPr lang="zh-CN" altLang="en-US" dirty="0"/>
                  <a:t>可以推导出：</a:t>
                </a:r>
                <a:br>
                  <a:rPr lang="zh-CN" altLang="en-US" dirty="0"/>
                </a:br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其余三个虚部可以通过非对角线元素相减得到：</a:t>
                </a:r>
                <a:br>
                  <a:rPr lang="zh-CN" altLang="en-US" dirty="0"/>
                </a:br>
                <a:endParaRPr lang="zh-CN" altLang="en-US" dirty="0"/>
              </a:p>
              <a:p>
                <a:pPr marL="0" indent="0">
                  <a:buNone/>
                </a:pPr>
                <a:endParaRPr lang="ar-AE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C2BFCB-11B2-CAA1-C990-00ACB3C78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352425" y="992126"/>
                <a:ext cx="11268297" cy="4873747"/>
              </a:xfrm>
              <a:blipFill>
                <a:blip r:embed="rId2"/>
                <a:stretch>
                  <a:fillRect l="-1136" t="-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A8BEC-4FE9-BB87-40E5-D129323B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53781C-E1F6-4315-A39D-61273F2E0596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E08419A-E89D-00C2-2F99-8F1691569C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968573"/>
              </p:ext>
            </p:extLst>
          </p:nvPr>
        </p:nvGraphicFramePr>
        <p:xfrm>
          <a:off x="1835150" y="3187699"/>
          <a:ext cx="6970668" cy="1054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03160" imgH="393480" progId="Equation.DSMT4">
                  <p:embed/>
                </p:oleObj>
              </mc:Choice>
              <mc:Fallback>
                <p:oleObj name="Equation" r:id="rId3" imgW="2603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150" y="3187699"/>
                        <a:ext cx="6970668" cy="1054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93DADB8-31C2-A8C3-1E2E-C296DF8270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493545"/>
              </p:ext>
            </p:extLst>
          </p:nvPr>
        </p:nvGraphicFramePr>
        <p:xfrm>
          <a:off x="2231959" y="4931854"/>
          <a:ext cx="6023041" cy="984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41320" imgH="431640" progId="Equation.DSMT4">
                  <p:embed/>
                </p:oleObj>
              </mc:Choice>
              <mc:Fallback>
                <p:oleObj name="Equation" r:id="rId5" imgW="2641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31959" y="4931854"/>
                        <a:ext cx="6023041" cy="984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BFB745A-D705-D610-1F43-74516C88A615}"/>
                  </a:ext>
                </a:extLst>
              </p:cNvPr>
              <p:cNvSpPr txBox="1"/>
              <p:nvPr/>
            </p:nvSpPr>
            <p:spPr>
              <a:xfrm>
                <a:off x="8805818" y="5085393"/>
                <a:ext cx="249094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0000"/>
                    </a:solidFill>
                  </a:rPr>
                  <a:t>鲁棒性问题：</a:t>
                </a:r>
                <a:endParaRPr lang="en-US" altLang="zh-CN" sz="2400" b="1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BFB745A-D705-D610-1F43-74516C88A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818" y="5085393"/>
                <a:ext cx="2490943" cy="830997"/>
              </a:xfrm>
              <a:prstGeom prst="rect">
                <a:avLst/>
              </a:prstGeom>
              <a:blipFill>
                <a:blip r:embed="rId7"/>
                <a:stretch>
                  <a:fillRect l="-3922" t="-5839" b="-6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093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5B295FD-786F-50BA-240F-7176AD8FFD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0622BD-7C8E-DA94-3050-8A567BBD26B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568325" y="1420813"/>
                <a:ext cx="11268297" cy="487374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、四元数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旋转矩阵如何转换为四元数（</a:t>
                </a:r>
                <a:r>
                  <a:rPr lang="en-US" altLang="zh-CN" dirty="0" err="1"/>
                  <a:t>shepperd</a:t>
                </a:r>
                <a:r>
                  <a:rPr lang="zh-CN" altLang="en-US" dirty="0"/>
                  <a:t>算法）</a:t>
                </a:r>
              </a:p>
              <a:p>
                <a:r>
                  <a:rPr lang="en-US" altLang="zh-CN" dirty="0"/>
                  <a:t>Shepperd </a:t>
                </a:r>
                <a:r>
                  <a:rPr lang="zh-CN" altLang="en-US" dirty="0"/>
                  <a:t>观察到，旋转矩阵的对角线元素和迹之间，隐藏着 </a:t>
                </a:r>
                <a:r>
                  <a:rPr lang="en-US" altLang="zh-CN" dirty="0"/>
                  <a:t>4 </a:t>
                </a:r>
                <a:r>
                  <a:rPr lang="zh-CN" altLang="en-US" dirty="0"/>
                  <a:t>个完全平等的二次方关系：</a:t>
                </a:r>
                <a:br>
                  <a:rPr lang="zh-CN" altLang="en-US" dirty="0"/>
                </a:b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4</m:t>
                    </m:r>
                    <m:sSubSup>
                      <m:sSub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i="1"/>
                      <m:t>Tr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br>
                  <a:rPr lang="ar-AE" altLang="zh-CN" dirty="0"/>
                </a:br>
                <a14:m>
                  <m:oMath xmlns:m="http://schemas.openxmlformats.org/officeDocument/2006/math">
                    <m:r>
                      <a:rPr lang="ar-AE" altLang="zh-CN">
                        <a:latin typeface="Cambria Math" panose="02040503050406030204" pitchFamily="18" charset="0"/>
                      </a:rPr>
                      <m:t>4</m:t>
                    </m:r>
                    <m:sSubSup>
                      <m:sSub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br>
                  <a:rPr lang="ar-AE" altLang="zh-CN" dirty="0"/>
                </a:br>
                <a14:m>
                  <m:oMath xmlns:m="http://schemas.openxmlformats.org/officeDocument/2006/math">
                    <m:r>
                      <a:rPr lang="ar-AE" altLang="zh-CN">
                        <a:latin typeface="Cambria Math" panose="02040503050406030204" pitchFamily="18" charset="0"/>
                      </a:rPr>
                      <m:t>4</m:t>
                    </m:r>
                    <m:sSubSup>
                      <m:sSub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br>
                  <a:rPr lang="ar-AE" altLang="zh-CN" dirty="0"/>
                </a:br>
                <a14:m>
                  <m:oMath xmlns:m="http://schemas.openxmlformats.org/officeDocument/2006/math">
                    <m:r>
                      <a:rPr lang="ar-AE" altLang="zh-CN">
                        <a:latin typeface="Cambria Math" panose="02040503050406030204" pitchFamily="18" charset="0"/>
                      </a:rPr>
                      <m:t>4</m:t>
                    </m:r>
                    <m:sSubSup>
                      <m:sSub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br>
                  <a:rPr lang="ar-AE" altLang="zh-CN" dirty="0"/>
                </a:br>
                <a:r>
                  <a:rPr lang="zh-CN" altLang="en-US" dirty="0"/>
                  <a:t>无论当前的旋转矩阵是什么姿态，由于 </a:t>
                </a:r>
                <a14:m>
                  <m:oMath xmlns:m="http://schemas.openxmlformats.org/officeDocument/2006/math">
                    <m:r>
                      <a:rPr lang="zh-CN" altLang="en-US" b="1"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lang="zh-CN" altLang="en-US" dirty="0"/>
                  <a:t> 是单位四元数，这四个平方项的和必然等于 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。也就是说，这四个项中，绝对不可能同时都很小，其中必然有一个项的值是大于或等于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的。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0622BD-7C8E-DA94-3050-8A567BBD26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568325" y="1420813"/>
                <a:ext cx="11268297" cy="4873747"/>
              </a:xfrm>
              <a:blipFill>
                <a:blip r:embed="rId2"/>
                <a:stretch>
                  <a:fillRect l="-811" t="-1000" r="-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E8B54-25CB-D020-FD47-8A8445AB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16</a:t>
            </a:fld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63407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5B1E6A6-33E8-5B04-DE7C-5A13D7C5FB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7049E4-CCBA-5565-833A-BFD51F73666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、四元数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旋转矩阵如何转换为四元数（</a:t>
                </a:r>
                <a:r>
                  <a:rPr lang="en-US" altLang="zh-CN" dirty="0" err="1"/>
                  <a:t>shepperd</a:t>
                </a:r>
                <a:r>
                  <a:rPr lang="zh-CN" altLang="en-US" dirty="0"/>
                  <a:t>算法）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Shepperd </a:t>
                </a:r>
                <a:r>
                  <a:rPr lang="zh-CN" altLang="en-US" dirty="0"/>
                  <a:t>算法的策略：先比较 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i="1"/>
                      <m:t>Tr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zh-CN" altLang="ar-AE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zh-CN" altLang="ar-AE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的大小，找出当中最大的那一个。将最大项作为“主元”，先通过开平方计算出该分量（确保分量最大，绝不接近 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）。利用这个绝对安全的主元作为分母，去求解剩下的三个分量。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7049E4-CCBA-5565-833A-BFD51F7366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3AF7D3-EBD5-D2DF-5AE1-3AF34F4D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17</a:t>
            </a:fld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03682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81FDCF0-12FF-F8AA-0972-3AB4D9794B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B34DB1-B93B-3300-5B39-671CC4D6B76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613569" y="1100931"/>
                <a:ext cx="10964862" cy="465613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、四元数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在三维空间中，已知当前四元数姿态为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𝑐𝑢𝑟𝑟</m:t>
                        </m:r>
                      </m:sub>
                    </m:sSub>
                  </m:oMath>
                </a14:m>
                <a:r>
                  <a:rPr lang="zh-CN" altLang="en-US" dirty="0"/>
                  <a:t>，目标姿态为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</m:oMath>
                </a14:m>
                <a:r>
                  <a:rPr lang="zh-CN" altLang="en-US" dirty="0"/>
                  <a:t>。要想知道从当前姿态转到目标姿态需要“怎么转”，我们在代数上需要求它们的误差四元数（或增量四元数）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lang="zh-CN" altLang="en-US" dirty="0"/>
                  <a:t>：</a:t>
                </a:r>
                <a:br>
                  <a:rPr lang="zh-CN" altLang="en-US" dirty="0"/>
                </a:br>
                <a:endParaRPr lang="zh-CN" altLang="en-US" dirty="0"/>
              </a:p>
              <a:p>
                <a:pPr marL="0" indent="0">
                  <a:buNone/>
                </a:pPr>
                <a:endParaRPr lang="zh-CN" altLang="en-US" b="0" dirty="0"/>
              </a:p>
              <a:p>
                <a:pPr marL="0" indent="0">
                  <a:buNone/>
                </a:pPr>
                <a:r>
                  <a:rPr lang="zh-CN" altLang="en-US" dirty="0"/>
                  <a:t>因为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𝑐𝑢𝑟𝑟</m:t>
                        </m:r>
                      </m:sub>
                    </m:sSub>
                  </m:oMath>
                </a14:m>
                <a:r>
                  <a:rPr lang="zh-CN" altLang="en-US" dirty="0"/>
                  <a:t> 是单位四元数，所以它的逆就是它的共轭：</a:t>
                </a:r>
                <a:br>
                  <a:rPr lang="zh-CN" altLang="en-US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B34DB1-B93B-3300-5B39-671CC4D6B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613569" y="1100931"/>
                <a:ext cx="10964862" cy="4656137"/>
              </a:xfrm>
              <a:blipFill>
                <a:blip r:embed="rId2"/>
                <a:stretch>
                  <a:fillRect l="-1168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B07C49-A583-5202-A542-C31E0801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18</a:t>
            </a:fld>
            <a:endParaRPr lang="zh-CN" altLang="en-US" sz="16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45DB2A0-B109-FBFE-0C97-535270595F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452292"/>
              </p:ext>
            </p:extLst>
          </p:nvPr>
        </p:nvGraphicFramePr>
        <p:xfrm>
          <a:off x="3657600" y="3428999"/>
          <a:ext cx="3800476" cy="950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7600" y="3428999"/>
                        <a:ext cx="3800476" cy="950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7D83AE4-274B-A8F2-6545-D4CEFD3470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109009"/>
              </p:ext>
            </p:extLst>
          </p:nvPr>
        </p:nvGraphicFramePr>
        <p:xfrm>
          <a:off x="2832099" y="5307013"/>
          <a:ext cx="5697155" cy="69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82600" imgH="253800" progId="Equation.DSMT4">
                  <p:embed/>
                </p:oleObj>
              </mc:Choice>
              <mc:Fallback>
                <p:oleObj name="Equation" r:id="rId5" imgW="2082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32099" y="5307013"/>
                        <a:ext cx="5697155" cy="694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4615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98F2B14-0A03-C7BC-3425-64D23006CD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C9D08E-CAAA-D0CE-3473-4B1F557226E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613569" y="1100931"/>
                <a:ext cx="10964862" cy="51936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、四元数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根据四元数乘法的代数定义，两个四元数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相乘，其虚部（向量部分）的通用展开公式为：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根据四元数定义，误差四元数的虚部满足：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/>
                  <a:t> 是总旋转误差角（弧度），</a:t>
                </a:r>
                <a14:m>
                  <m:oMath xmlns:m="http://schemas.openxmlformats.org/officeDocument/2006/math">
                    <m:r>
                      <a:rPr lang="zh-CN" altLang="en-US" b="1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zh-CN" altLang="en-US" dirty="0"/>
                  <a:t> 是旋转轴。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2C9D08E-CAAA-D0CE-3473-4B1F557226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613569" y="1100931"/>
                <a:ext cx="10964862" cy="5193629"/>
              </a:xfrm>
              <a:blipFill>
                <a:blip r:embed="rId2"/>
                <a:stretch>
                  <a:fillRect l="-1168" t="-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303D6E-9863-A4E4-916C-4B63A2D4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19</a:t>
            </a:fld>
            <a:endParaRPr lang="zh-CN" altLang="en-US" sz="16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85D504D-5EA5-C2D2-CA13-B8CD470E1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160581"/>
              </p:ext>
            </p:extLst>
          </p:nvPr>
        </p:nvGraphicFramePr>
        <p:xfrm>
          <a:off x="2533650" y="2929273"/>
          <a:ext cx="600506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880" imgH="228600" progId="Equation.DSMT4">
                  <p:embed/>
                </p:oleObj>
              </mc:Choice>
              <mc:Fallback>
                <p:oleObj name="Equation" r:id="rId3" imgW="1739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33650" y="2929273"/>
                        <a:ext cx="6005068" cy="788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F454ED7-D2FF-B2A7-DB40-B9A599CD51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165763"/>
              </p:ext>
            </p:extLst>
          </p:nvPr>
        </p:nvGraphicFramePr>
        <p:xfrm>
          <a:off x="4577334" y="4298071"/>
          <a:ext cx="2191766" cy="955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431640" progId="Equation.DSMT4">
                  <p:embed/>
                </p:oleObj>
              </mc:Choice>
              <mc:Fallback>
                <p:oleObj name="Equation" r:id="rId5" imgW="990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7334" y="4298071"/>
                        <a:ext cx="2191766" cy="955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4518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95FF1E-A316-BB1B-7117-F031CCC205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EDBAEC-89D4-BE69-5F1B-6B6CFB8CC02C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741363" y="1247316"/>
                <a:ext cx="10964862" cy="465613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、四元数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运动学迭代中，需要的姿态误差向量是 “旋转轴 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en-US" dirty="0"/>
                  <a:t> 旋转角”，因此：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Add</a:t>
                </a:r>
                <a:r>
                  <a:rPr lang="zh-CN" altLang="en-US" dirty="0"/>
                  <a:t>：如果当前姿态和目标姿态差得特别远，</a:t>
                </a:r>
                <a:r>
                  <a:rPr lang="en-US" altLang="zh-CN" b="1" dirty="0"/>
                  <a:t>sin(</a:t>
                </a:r>
                <a:r>
                  <a:rPr lang="en-US" altLang="zh-CN" b="1" i="1" dirty="0"/>
                  <a:t>x</a:t>
                </a:r>
                <a:r>
                  <a:rPr lang="en-US" altLang="zh-CN" b="1" dirty="0"/>
                  <a:t>)≈</a:t>
                </a:r>
                <a:r>
                  <a:rPr lang="en-US" altLang="zh-CN" b="1" i="1" dirty="0"/>
                  <a:t>x</a:t>
                </a:r>
                <a:r>
                  <a:rPr lang="en-US" altLang="zh-CN" b="1" dirty="0"/>
                  <a:t> </a:t>
                </a:r>
                <a:r>
                  <a:rPr lang="zh-CN" altLang="en-US" b="1" dirty="0"/>
                  <a:t>的假设</a:t>
                </a:r>
                <a:r>
                  <a:rPr lang="zh-CN" altLang="en-US" dirty="0"/>
                  <a:t> 就不再成立。从而拖慢逆运动学在最初几步的收敛速度。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EDBAEC-89D4-BE69-5F1B-6B6CFB8CC0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741363" y="1247316"/>
                <a:ext cx="10964862" cy="4656137"/>
              </a:xfrm>
              <a:blipFill>
                <a:blip r:embed="rId2"/>
                <a:stretch>
                  <a:fillRect l="-1001" t="-524" r="-2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D631BE-EDDB-8FDC-13D6-E9E3C55F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20</a:t>
            </a:fld>
            <a:endParaRPr lang="zh-CN" altLang="en-US" sz="16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783A9FB-B195-3131-845F-83C185E03B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238764"/>
              </p:ext>
            </p:extLst>
          </p:nvPr>
        </p:nvGraphicFramePr>
        <p:xfrm>
          <a:off x="2711449" y="2510967"/>
          <a:ext cx="6286651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7360" imgH="393480" progId="Equation.DSMT4">
                  <p:embed/>
                </p:oleObj>
              </mc:Choice>
              <mc:Fallback>
                <p:oleObj name="Equation" r:id="rId3" imgW="19173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1449" y="2510967"/>
                        <a:ext cx="6286651" cy="1290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4683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F990DD8-1978-578F-0E19-EE25CE992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F69D6B-C0A3-60B4-7014-53A7598AB47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2</a:t>
                </a:r>
                <a:r>
                  <a:rPr lang="zh-CN" altLang="en-US" b="1" dirty="0"/>
                  <a:t>、雅可比矩阵：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雅可比矩阵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en-US" dirty="0"/>
                  <a:t> 是一个 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 的矩阵，它线性地将关节速度 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zh-CN" altLang="en-US" dirty="0"/>
                  <a:t> 映射到末端广义速度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：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展开成矩阵形式为：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F69D6B-C0A3-60B4-7014-53A7598AB4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F15EBE-D9AB-A0A3-AB59-452CCEF9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21</a:t>
            </a:fld>
            <a:endParaRPr lang="zh-CN" altLang="en-US" sz="16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924A9AB-4DED-CEB5-9279-E63FBB14A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946937"/>
              </p:ext>
            </p:extLst>
          </p:nvPr>
        </p:nvGraphicFramePr>
        <p:xfrm>
          <a:off x="4279901" y="2889921"/>
          <a:ext cx="2118616" cy="677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680" imgH="203040" progId="Equation.DSMT4">
                  <p:embed/>
                </p:oleObj>
              </mc:Choice>
              <mc:Fallback>
                <p:oleObj name="Equation" r:id="rId3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79901" y="2889921"/>
                        <a:ext cx="2118616" cy="6779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E54DCC0-00F9-A6E3-7455-A224909C8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205784"/>
              </p:ext>
            </p:extLst>
          </p:nvPr>
        </p:nvGraphicFramePr>
        <p:xfrm>
          <a:off x="4629346" y="3761671"/>
          <a:ext cx="4235254" cy="2875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57400" imgH="1396800" progId="Equation.DSMT4">
                  <p:embed/>
                </p:oleObj>
              </mc:Choice>
              <mc:Fallback>
                <p:oleObj name="Equation" r:id="rId5" imgW="2057400" imgH="1396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29346" y="3761671"/>
                        <a:ext cx="4235254" cy="28757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4953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B003AC8-66D7-217B-3C11-3257B5D422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EC6E91-BCE4-5E4F-C2E3-724605F73DA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2</a:t>
                </a:r>
                <a:r>
                  <a:rPr lang="zh-CN" altLang="en-US" b="1" dirty="0"/>
                  <a:t>、雅可比矩阵：</a:t>
                </a:r>
                <a:endParaRPr lang="en-US" altLang="zh-CN" b="1" dirty="0"/>
              </a:p>
              <a:p>
                <a:r>
                  <a:rPr lang="zh-CN" altLang="en-US" dirty="0"/>
                  <a:t>几何雅可比矩阵（</a:t>
                </a:r>
                <a:r>
                  <a:rPr lang="en-US" altLang="zh-CN" dirty="0"/>
                  <a:t>Geometric Jacobian</a:t>
                </a:r>
                <a:r>
                  <a:rPr lang="zh-CN" altLang="en-US" dirty="0"/>
                  <a:t>）：直接建立关节速度与末端物理线速度、物理角速度之间的关系。它的推导基于清晰的几何结构，最为常用。</a:t>
                </a:r>
              </a:p>
              <a:p>
                <a:r>
                  <a:rPr lang="zh-CN" altLang="en-US" dirty="0"/>
                  <a:t>解析雅可比矩阵（</a:t>
                </a:r>
                <a:r>
                  <a:rPr lang="en-US" altLang="zh-CN" dirty="0"/>
                  <a:t>Analytical Jacobian</a:t>
                </a:r>
                <a:r>
                  <a:rPr lang="zh-CN" altLang="en-US" dirty="0"/>
                  <a:t>）：末端姿态不用角速度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dirty="0"/>
                  <a:t> 表示，而是用某种姿态参数化的导数（如欧拉角变化率 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zh-CN" altLang="en-US" dirty="0"/>
                  <a:t> 或四元数导数 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</m:acc>
                  </m:oMath>
                </a14:m>
                <a:r>
                  <a:rPr lang="zh-CN" altLang="en-US" dirty="0"/>
                  <a:t>）表示。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EC6E91-BCE4-5E4F-C2E3-724605F73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 r="-7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ADAB8D-A16F-F39A-692B-C210201F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22</a:t>
            </a:fld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15798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72B55A0-78AE-7558-1C77-9F340A827B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8D01DE-2A3D-0018-0311-C5CB447A7CB4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639763" y="1663700"/>
                <a:ext cx="10964862" cy="4413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2</a:t>
                </a:r>
                <a:r>
                  <a:rPr lang="zh-CN" altLang="en-US" b="1" dirty="0"/>
                  <a:t>、雅可比矩阵（几何雅可比矩阵的建立方法</a:t>
                </a:r>
                <a:r>
                  <a:rPr lang="en-US" altLang="zh-CN" b="1" dirty="0"/>
                  <a:t>-</a:t>
                </a:r>
                <a:r>
                  <a:rPr lang="zh-CN" altLang="en-US" b="1" dirty="0"/>
                  <a:t>矢量积法）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将 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 的雅可比矩阵拆分为上半部分（线速度雅可比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ar-AE" dirty="0"/>
                  <a:t>）</a:t>
                </a:r>
                <a:r>
                  <a:rPr lang="zh-CN" altLang="en-US" dirty="0"/>
                  <a:t>和下半部分（角速度雅可比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ar-AE" dirty="0"/>
                  <a:t>）：</a:t>
                </a:r>
                <a:br>
                  <a:rPr lang="ar-AE" altLang="zh-CN" dirty="0"/>
                </a:br>
                <a:br>
                  <a:rPr lang="ar-AE" altLang="zh-CN" dirty="0"/>
                </a:b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8D01DE-2A3D-0018-0311-C5CB447A7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639763" y="1663700"/>
                <a:ext cx="10964862" cy="4413250"/>
              </a:xfrm>
              <a:blipFill>
                <a:blip r:embed="rId2"/>
                <a:stretch>
                  <a:fillRect l="-1167" t="-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25E08A-CDF5-5DE7-63FA-1EBE0DFB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23</a:t>
            </a:fld>
            <a:endParaRPr lang="zh-CN" altLang="en-US" sz="16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B04BC84-B75A-878D-28DB-7A20F03DF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673998"/>
              </p:ext>
            </p:extLst>
          </p:nvPr>
        </p:nvGraphicFramePr>
        <p:xfrm>
          <a:off x="4911725" y="3748881"/>
          <a:ext cx="1962150" cy="161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533160" progId="Equation.DSMT4">
                  <p:embed/>
                </p:oleObj>
              </mc:Choice>
              <mc:Fallback>
                <p:oleObj name="Equation" r:id="rId3" imgW="6476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11725" y="3748881"/>
                        <a:ext cx="1962150" cy="1615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5397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9291873-2193-21DA-6FE1-573C06E138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AF2B3A-BF39-832F-70C3-BB6BF443DFA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424583" y="1100931"/>
                <a:ext cx="10964862" cy="531256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2</a:t>
                </a:r>
                <a:r>
                  <a:rPr lang="zh-CN" altLang="en-US" b="1" dirty="0"/>
                  <a:t>、雅可比矩阵（几何雅可比矩阵的建立方法</a:t>
                </a:r>
                <a:r>
                  <a:rPr lang="en-US" altLang="zh-CN" b="1" dirty="0"/>
                  <a:t>-</a:t>
                </a:r>
                <a:r>
                  <a:rPr lang="zh-CN" altLang="en-US" b="1" dirty="0"/>
                  <a:t>矢量积法）</a:t>
                </a: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r>
                  <a:rPr lang="en-US" altLang="zh-CN" i="1" dirty="0"/>
                  <a:t>zi</a:t>
                </a:r>
                <a:r>
                  <a:rPr lang="zh-CN" altLang="en-US" dirty="0"/>
                  <a:t>−</a:t>
                </a:r>
                <a:r>
                  <a:rPr lang="en-US" altLang="zh-CN" dirty="0"/>
                  <a:t>1​</a:t>
                </a:r>
                <a:r>
                  <a:rPr lang="zh-CN" altLang="en-US" dirty="0"/>
                  <a:t>：第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 个关节的旋转轴或移动轴方向矢量在基坐标系下的表示（通常是当前坐标系的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dirty="0"/>
                  <a:t> 轴）。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：第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 个关节的坐标系原点在基坐标系下的位置矢量。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/>
                  <a:t>：机械臂末端执行器（</a:t>
                </a:r>
                <a:r>
                  <a:rPr lang="en-US" altLang="zh-CN" dirty="0"/>
                  <a:t>End-effector</a:t>
                </a:r>
                <a:r>
                  <a:rPr lang="zh-CN" altLang="en-US" dirty="0"/>
                  <a:t>）原点在基坐标系下的位置矢量。</a:t>
                </a:r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1AF2B3A-BF39-832F-70C3-BB6BF443D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424583" y="1100931"/>
                <a:ext cx="10964862" cy="5312569"/>
              </a:xfrm>
              <a:blipFill>
                <a:blip r:embed="rId2"/>
                <a:stretch>
                  <a:fillRect l="-890" t="-689" r="-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51162D-C8E4-758C-CC5D-2ADC0692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24</a:t>
            </a:fld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C5F8BC-A300-E440-AB9B-11519361B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00" y="1558229"/>
            <a:ext cx="6493900" cy="253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60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95A3562-F705-4981-288D-C426A9E004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运动学逆解（数值法）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BBC4AB-D404-07F1-4535-C45626F8E4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9763" y="1420813"/>
            <a:ext cx="2611437" cy="4656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、代码验证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令初始关节角全为零，随机设置一个目标关节角，使用正运动学得到目标末端姿态，输入逆运动学函数进行迭代。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59EC66-7DA2-B7B6-2397-90783471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25</a:t>
            </a:fld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EE8BDBC-60CD-D823-A5D5-584D095A0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996688"/>
            <a:ext cx="8008937" cy="550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47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05F7FC8-1A94-B367-0B95-6A8C401C74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5F084C-18BD-E7EC-4816-A5C3948F5A2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9763" y="963613"/>
            <a:ext cx="10964862" cy="465613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、代码验证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给定一段目标轨迹，（一个</a:t>
            </a:r>
            <a:r>
              <a:rPr lang="en-US" altLang="zh-CN" sz="2400" dirty="0"/>
              <a:t>YZ</a:t>
            </a:r>
            <a:r>
              <a:rPr lang="zh-CN" altLang="en-US" sz="2400" dirty="0"/>
              <a:t>平面的圆为例），固定末端姿态，使用逆运动学函数得到关节轨迹（除初始点的迭代初值为零向量外，其他位置以上一点的关节角度为迭代初值），再将得到的关节轨迹输入正运动学函数得到实验轨迹。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29BA83-46E7-BAF8-D6D3-0BA294EE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26</a:t>
            </a:fld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FE05497-7B3D-FC83-4B23-0CD35135A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3038519"/>
            <a:ext cx="8823136" cy="325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46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F7BC3F-3546-8E21-AD59-DAC99E5AFD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070022-7A5B-276F-EA80-192CCB0153F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、代码验证</a:t>
            </a:r>
            <a:endParaRPr lang="en-US" altLang="zh-CN" dirty="0"/>
          </a:p>
          <a:p>
            <a:r>
              <a:rPr lang="zh-CN" altLang="en-US" dirty="0"/>
              <a:t>增大轨迹圆的半径为</a:t>
            </a:r>
            <a:r>
              <a:rPr lang="en-US" altLang="zh-CN" dirty="0"/>
              <a:t>0.4m</a:t>
            </a:r>
            <a:r>
              <a:rPr lang="zh-CN" altLang="en-US" dirty="0"/>
              <a:t>后（之前为</a:t>
            </a:r>
            <a:r>
              <a:rPr lang="en-US" altLang="zh-CN" dirty="0"/>
              <a:t>0.3m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AEDF07-D539-9C93-F26D-56AA2CDE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27</a:t>
            </a:fld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96A4F5-24AA-0894-17FD-00B511203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64" y="2788066"/>
            <a:ext cx="9554536" cy="350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87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1"/>
          <p:cNvSpPr txBox="1"/>
          <p:nvPr/>
        </p:nvSpPr>
        <p:spPr>
          <a:xfrm>
            <a:off x="6096000" y="2103723"/>
            <a:ext cx="5467350" cy="1638300"/>
          </a:xfrm>
          <a:prstGeom prst="rect">
            <a:avLst/>
          </a:prstGeom>
        </p:spPr>
        <p:txBody>
          <a:bodyPr vert="horz" lIns="144000" tIns="144000" rIns="144000" bIns="144000" rtlCol="0" anchor="ctr" anchorCtr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动力学建模与</a:t>
            </a:r>
            <a:r>
              <a:rPr kumimoji="0" lang="en-GB" altLang="zh-CN" sz="6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Simscape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仿真验证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0" y="44854"/>
            <a:ext cx="12192000" cy="781049"/>
          </a:xfrm>
        </p:spPr>
        <p:txBody>
          <a:bodyPr/>
          <a:lstStyle/>
          <a:p>
            <a:r>
              <a:rPr lang="zh-CN" altLang="en-US"/>
              <a:t>动力学逆问题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78542" y="995137"/>
                <a:ext cx="9670454" cy="55176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任务目标：已知各个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/>
                      </a:rPr>
                      <m:t>关节</m:t>
                    </m:r>
                    <m:r>
                      <a:rPr lang="zh-CN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/>
                      </a:rPr>
                      <m:t>的</m:t>
                    </m:r>
                    <m:r>
                      <m:rPr>
                        <m:sty m:val="p"/>
                      </m:rPr>
                      <a:rPr lang="en-US" altLang="zh-CN" sz="2400" noProof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/>
                      </a:rPr>
                      <m:t>q</m:t>
                    </m:r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/>
                      </a:rPr>
                      <m:t>、</m:t>
                    </m:r>
                    <m:acc>
                      <m:accPr>
                        <m:chr m:val="̇"/>
                        <m:ctrlPr>
                          <a:rPr kumimoji="0" lang="zh-CN" alt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q</m:t>
                        </m:r>
                      </m:e>
                    </m:acc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/>
                      </a:rPr>
                      <m:t>、</m:t>
                    </m:r>
                    <m:acc>
                      <m:accPr>
                        <m:chr m:val="̈"/>
                        <m:ctrlPr>
                          <a:rPr kumimoji="0" lang="zh-CN" alt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/>
                          </a:rPr>
                          <m:t>q</m:t>
                        </m:r>
                      </m:e>
                    </m:acc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求各个关节所受力矩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/>
                      </a:rPr>
                      <m:t>𝜏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</a:rPr>
                  <a:t>。 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altLang="zh-CN" sz="2400" dirty="0">
                  <a:solidFill>
                    <a:srgbClr val="000000"/>
                  </a:solidFill>
                  <a:latin typeface="Arial"/>
                  <a:ea typeface="微软雅黑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Arial"/>
                    <a:ea typeface="微软雅黑"/>
                  </a:rPr>
                  <a:t>方案调研：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42" y="995137"/>
                <a:ext cx="9670454" cy="5517630"/>
              </a:xfrm>
              <a:prstGeom prst="rect">
                <a:avLst/>
              </a:prstGeom>
              <a:blipFill>
                <a:blip r:embed="rId2"/>
                <a:stretch>
                  <a:fillRect l="-819" t="-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8A67C-8A77-A25F-BF6A-7F380B3F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29</a:t>
            </a:fld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92338"/>
              </p:ext>
            </p:extLst>
          </p:nvPr>
        </p:nvGraphicFramePr>
        <p:xfrm>
          <a:off x="663455" y="2323021"/>
          <a:ext cx="9048342" cy="2861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6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6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3954">
                <a:tc>
                  <a:txBody>
                    <a:bodyPr/>
                    <a:lstStyle/>
                    <a:p>
                      <a:pPr algn="ctr"/>
                      <a:r>
                        <a:rPr lang="zh-CN"/>
                        <a:t>思路</a:t>
                      </a:r>
                      <a:endParaRPr 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/>
                        <a:t>核心思想</a:t>
                      </a:r>
                      <a:endParaRPr 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/>
                        <a:t>优点</a:t>
                      </a:r>
                      <a:endParaRPr lang="zh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954"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牛顿欧拉法</a:t>
                      </a:r>
                      <a:endParaRPr lang="zh-CN" altLang="en-US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87403" marT="54746" marB="5474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lang="zh-CN" altLang="en-US"/>
                        <a:t>基于力与力矩递推建模</a:t>
                      </a:r>
                      <a:endParaRPr lang="zh-CN" altLang="en-US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7403" marR="87403" marT="54746" marB="5474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lang="zh-CN" altLang="en-US"/>
                        <a:t>计算效率高，适合实时控制</a:t>
                      </a:r>
                      <a:endParaRPr lang="zh-CN" altLang="en-US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403" marR="87403" marT="54746" marB="5474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954"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拉格朗日法</a:t>
                      </a:r>
                      <a:endParaRPr lang="zh-CN" altLang="en-US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87403" marT="54746" marB="5474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lang="zh-CN" altLang="en-US"/>
                        <a:t>基于能量关系建立方程</a:t>
                      </a:r>
                      <a:endParaRPr lang="zh-CN" altLang="en-US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403" marR="87403" marT="54746" marB="5474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0"/>
                        </a:lnSpc>
                      </a:pPr>
                      <a:r>
                        <a:rPr lang="zh-CN" altLang="en-US" dirty="0"/>
                        <a:t>形式统一，物理意义清晰</a:t>
                      </a:r>
                      <a:endParaRPr lang="zh-CN" altLang="en-US" sz="1800" b="0" i="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403" marR="87403" marT="54746" marB="5474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23924" y="44854"/>
            <a:ext cx="11268076" cy="781049"/>
          </a:xfrm>
        </p:spPr>
        <p:txBody>
          <a:bodyPr/>
          <a:lstStyle/>
          <a:p>
            <a:pPr algn="l"/>
            <a:r>
              <a:rPr lang="zh-CN" altLang="en-US" dirty="0"/>
              <a:t>具体方案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5493" y="1671509"/>
            <a:ext cx="8972438" cy="39817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获取机器人动力学参数：从</a:t>
            </a:r>
            <a:r>
              <a:rPr lang="en-US" altLang="zh-CN" sz="2400" dirty="0" err="1"/>
              <a:t>urdf</a:t>
            </a:r>
            <a:r>
              <a:rPr lang="zh-CN" altLang="en-US" sz="2400" dirty="0"/>
              <a:t>文件中读出所有杆件的连杆质量、质心位置、惯量张量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根据牛顿欧拉法</a:t>
            </a:r>
            <a:r>
              <a:rPr lang="en-US" altLang="zh-CN" sz="2400" dirty="0"/>
              <a:t>/</a:t>
            </a:r>
            <a:r>
              <a:rPr lang="zh-CN" altLang="en-US" sz="2400" dirty="0"/>
              <a:t>拉格朗日法计算相应关节的力矩</a:t>
            </a:r>
          </a:p>
          <a:p>
            <a:r>
              <a:rPr lang="en-US" altLang="zh-CN" sz="24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400" dirty="0" err="1"/>
              <a:t>Simscape</a:t>
            </a:r>
            <a:r>
              <a:rPr lang="zh-CN" altLang="en-US" sz="2400" dirty="0"/>
              <a:t>验证：从</a:t>
            </a:r>
            <a:r>
              <a:rPr lang="en-US" altLang="zh-CN" sz="2400" dirty="0" err="1"/>
              <a:t>urdf</a:t>
            </a:r>
            <a:r>
              <a:rPr lang="zh-CN" altLang="en-US" sz="2400" dirty="0"/>
              <a:t>文件的实际模型和建立的动力学模型进行对比验证。前者调用系统函数验算结果是否一致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给定关节轨迹</a:t>
            </a:r>
            <a:r>
              <a:rPr lang="en-US" altLang="zh-CN" sz="2400" dirty="0"/>
              <a:t>---&gt;</a:t>
            </a:r>
            <a:r>
              <a:rPr lang="zh-CN" altLang="en-US" sz="2400" dirty="0"/>
              <a:t>理论动力学求关节力矩</a:t>
            </a:r>
            <a:r>
              <a:rPr lang="en-US" altLang="zh-CN" sz="2400" dirty="0"/>
              <a:t>---&gt;</a:t>
            </a:r>
            <a:r>
              <a:rPr lang="zh-CN" altLang="en-US" sz="2400" dirty="0"/>
              <a:t>力矩输入</a:t>
            </a:r>
            <a:r>
              <a:rPr lang="en-US" altLang="zh-CN" sz="2400" dirty="0" err="1"/>
              <a:t>Simscape</a:t>
            </a:r>
            <a:r>
              <a:rPr lang="en-US" altLang="zh-CN" sz="2400" dirty="0"/>
              <a:t>---&gt;</a:t>
            </a:r>
            <a:r>
              <a:rPr lang="zh-CN" altLang="en-US" sz="2400" dirty="0"/>
              <a:t>获得仿真运动结果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23924" y="44854"/>
            <a:ext cx="11268076" cy="781049"/>
          </a:xfrm>
        </p:spPr>
        <p:txBody>
          <a:bodyPr/>
          <a:lstStyle/>
          <a:p>
            <a:pPr algn="l"/>
            <a:r>
              <a:rPr lang="zh-CN" altLang="en-US" dirty="0"/>
              <a:t>具体方案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46066" y="973351"/>
                <a:ext cx="8972438" cy="540702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获取机器人动力学参数：从</a:t>
                </a:r>
                <a:r>
                  <a:rPr lang="en-US" altLang="zh-CN" sz="2400" dirty="0" err="1"/>
                  <a:t>urdf</a:t>
                </a:r>
                <a:r>
                  <a:rPr lang="zh-CN" altLang="en-US" sz="2400" dirty="0"/>
                  <a:t>文件中读出所有杆件的连杆质量、质心位置、惯量张量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zh-CN" alt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通过正运动学模型计算系统能量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建立机器人拉格朗日动力学方程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latin typeface="Cambria Math" panose="02040503050406030204" charset="0"/>
                                </a:rPr>
                                <m:t>𝜕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altLang="zh-CN">
                                  <a:latin typeface="Cambria Math" panose="02040503050406030204" charset="0"/>
                                </a:rPr>
                                <m:t>𝜕</m:t>
                              </m:r>
                              <m:acc>
                                <m:accPr>
                                  <m:chr m:val="̇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>
                              <a:latin typeface="Cambria Math" panose="0204050305040603020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charset="0"/>
                            </a:rPr>
                            <m:t>τ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,</m:t>
                      </m:r>
                      <m:r>
                        <a:rPr lang="en-US" altLang="zh-CN" i="1" smtClean="0">
                          <a:latin typeface="Cambria Math" panose="02040503050406030204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charset="0"/>
                        </a:rPr>
                        <m:t>𝑉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en-US" altLang="zh-CN" sz="2000" dirty="0"/>
                  <a:t>     </a:t>
                </a:r>
                <a:r>
                  <a:rPr lang="zh-CN" altLang="en-US" sz="2000" dirty="0"/>
                  <a:t>整理成以下形式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</a:rPr>
                        <m:t>𝑀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</a:rPr>
                        <m:t>𝐶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𝑞</m:t>
                          </m:r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</a:rPr>
                        <m:t>𝐺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</a:rPr>
                        <m:t>𝜏</m:t>
                      </m:r>
                    </m:oMath>
                  </m:oMathPara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altLang="zh-CN" sz="2400" dirty="0" err="1"/>
                  <a:t>Simscape</a:t>
                </a:r>
                <a:r>
                  <a:rPr lang="zh-CN" altLang="en-US" sz="2400" dirty="0"/>
                  <a:t>验证：从</a:t>
                </a:r>
                <a:r>
                  <a:rPr lang="en-US" altLang="zh-CN" sz="2400" dirty="0" err="1"/>
                  <a:t>urdf</a:t>
                </a:r>
                <a:r>
                  <a:rPr lang="zh-CN" altLang="en-US" sz="2400" dirty="0"/>
                  <a:t>文件的实际模型和建立的动力学模型进行对比验证。前者调用系统函数验算结果是否一致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给定关节轨迹</a:t>
                </a:r>
                <a:r>
                  <a:rPr lang="en-US" altLang="zh-CN" sz="2400" dirty="0"/>
                  <a:t>---&gt;</a:t>
                </a:r>
                <a:r>
                  <a:rPr lang="zh-CN" altLang="en-US" sz="2400" dirty="0"/>
                  <a:t>理论动力学求关节力矩</a:t>
                </a:r>
                <a:r>
                  <a:rPr lang="en-US" altLang="zh-CN" sz="2400" dirty="0"/>
                  <a:t>---&gt;</a:t>
                </a:r>
                <a:r>
                  <a:rPr lang="zh-CN" altLang="en-US" sz="2400" dirty="0"/>
                  <a:t>力矩输入</a:t>
                </a:r>
                <a:r>
                  <a:rPr lang="en-US" altLang="zh-CN" sz="2400" dirty="0" err="1"/>
                  <a:t>Simscape</a:t>
                </a:r>
                <a:r>
                  <a:rPr lang="en-US" altLang="zh-CN" sz="2400" dirty="0"/>
                  <a:t>---&gt;</a:t>
                </a:r>
                <a:r>
                  <a:rPr lang="zh-CN" altLang="en-US" sz="2400" dirty="0"/>
                  <a:t>获得仿真运动结果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66" y="973351"/>
                <a:ext cx="8972438" cy="5407025"/>
              </a:xfrm>
              <a:prstGeom prst="rect">
                <a:avLst/>
              </a:prstGeom>
              <a:blipFill rotWithShape="1">
                <a:blip r:embed="rId2"/>
                <a:stretch>
                  <a:fillRect l="-7" t="-10" r="6" b="-9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A1F8325-D848-8140-A1DA-2FE1D7340A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E3CD503-37C5-1926-676F-F2EFEC4145F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1</a:t>
                </a:r>
                <a:r>
                  <a:rPr lang="zh-CN" altLang="en-US" dirty="0"/>
                  <a:t>、</a:t>
                </a:r>
                <a:r>
                  <a:rPr lang="zh-CN" altLang="en-US" b="1" dirty="0"/>
                  <a:t>重力补偿：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把基座的初始线加速度设为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（竖直向上），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根据达朗贝尔原理，所有连杆因此会受到一个向下的惯性力，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等效了重力，从而在后续无需考虑重力项。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2</a:t>
                </a:r>
                <a:r>
                  <a:rPr lang="zh-CN" altLang="en-US" dirty="0"/>
                  <a:t>、</a:t>
                </a:r>
                <a:r>
                  <a:rPr lang="zh-CN" altLang="en-US" b="1" dirty="0"/>
                  <a:t>正向递推：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沿着正向运动学，逐级计算每一个连杆在自身坐标系 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/>
                  <a:t> 下的角速度、角加速度和原点线加速度。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E3CD503-37C5-1926-676F-F2EFEC4145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001" t="-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A070F3-3CF4-0089-A2AC-34242A28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0516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86A18C3-49F8-9324-548C-22B332AAE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5441F86-3741-F1FB-D592-6AADB94CB45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2</a:t>
                </a:r>
                <a:r>
                  <a:rPr lang="zh-CN" altLang="en-US" dirty="0"/>
                  <a:t>、正向递推：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坐标系转换矩阵：</a:t>
                </a:r>
                <a:r>
                  <a:rPr lang="zh-CN" altLang="en-US" dirty="0"/>
                  <a:t>通过</a:t>
                </a:r>
                <a:r>
                  <a:rPr lang="en-US" altLang="zh-CN" dirty="0" err="1"/>
                  <a:t>mDH</a:t>
                </a:r>
                <a:r>
                  <a:rPr lang="zh-CN" altLang="en-US" dirty="0"/>
                  <a:t>参数计算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sPre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提取旋转矩阵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sPre>
                  </m:oMath>
                </a14:m>
                <a:r>
                  <a:rPr lang="zh-CN" altLang="en-US" dirty="0"/>
                  <a:t>和平移向量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sPre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角速度：</a:t>
                </a:r>
                <a:r>
                  <a:rPr lang="zh-CN" altLang="en-US" dirty="0"/>
                  <a:t>当前连杆的角速度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上一连杆的角速度投影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当前关节产生的角速度。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sPre>
                      <m:sPre>
                        <m:sPre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sPre>
                      <m:sPre>
                        <m:sPre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Z</m:t>
                          </m:r>
                          <m:acc>
                            <m:accPr>
                              <m:chr m:val="̇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acc>
                        </m:e>
                      </m:sPre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5441F86-3741-F1FB-D592-6AADB94CB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AA747A-50BA-1CEA-5A88-F225ACC4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z="1400" smtClean="0"/>
              <a:t>33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819658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6A231D3-4974-953B-6E51-0B12D24665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931FB7-1C23-6422-89EF-450FA3E58BB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2</a:t>
                </a:r>
                <a:r>
                  <a:rPr lang="zh-CN" altLang="en-US" dirty="0"/>
                  <a:t>、正向递推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角加速度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 smtClean="0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acc>
                    <m:r>
                      <a:rPr lang="zh-CN" altLang="en-US" b="1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/>
                  <a:t>当前连杆的角加速度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上一连杆的角加速度投影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科里奥利加速度交叉项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当前关节产生的角加速度。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连杆坐标系原点加速度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b="1" dirty="0"/>
                  <a:t>：</a:t>
                </a:r>
                <a:r>
                  <a:rPr lang="zh-CN" altLang="en-US" dirty="0"/>
                  <a:t>牵连运动引起的线加速度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上一连杆原点加速度投影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切向加速度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向心加速度。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931FB7-1C23-6422-89EF-450FA3E58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3813396-68E6-7504-8731-E253EF3878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703871"/>
              </p:ext>
            </p:extLst>
          </p:nvPr>
        </p:nvGraphicFramePr>
        <p:xfrm>
          <a:off x="1260475" y="3327400"/>
          <a:ext cx="89471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65360" imgH="241200" progId="Equation.DSMT4">
                  <p:embed/>
                </p:oleObj>
              </mc:Choice>
              <mc:Fallback>
                <p:oleObj name="Equation" r:id="rId3" imgW="25653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0475" y="3327400"/>
                        <a:ext cx="8947150" cy="842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3D68409-EFB8-A489-F15E-B995BEFAED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735413"/>
              </p:ext>
            </p:extLst>
          </p:nvPr>
        </p:nvGraphicFramePr>
        <p:xfrm>
          <a:off x="1259961" y="5297487"/>
          <a:ext cx="9388974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65280" imgH="279360" progId="Equation.DSMT4">
                  <p:embed/>
                </p:oleObj>
              </mc:Choice>
              <mc:Fallback>
                <p:oleObj name="Equation" r:id="rId5" imgW="3365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961" y="5297487"/>
                        <a:ext cx="9388974" cy="779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A04EEF-40A1-D403-BBA5-C8E3A6C3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1115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3887563-C6DA-26ED-C14C-B43F7341A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5C7ADB-D0F1-8E24-C4E5-04753152FEC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3</a:t>
                </a:r>
                <a:r>
                  <a:rPr lang="zh-CN" altLang="en-US" dirty="0"/>
                  <a:t>、</a:t>
                </a:r>
                <a:r>
                  <a:rPr lang="zh-CN" altLang="en-US" b="1" dirty="0"/>
                  <a:t>反向递推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根据牛顿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欧拉方程，计算维持各个连杆运动所需的力，然后从末端往基座逐级推导连杆间的相互作用力，最终投影到关节轴上得到电机力矩。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质心加速度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acc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/>
                  <a:t>将坐标系原点的加速度平移到质心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 dirty="0"/>
                  <a:t> 处。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5C7ADB-D0F1-8E24-C4E5-04753152FE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B684C94-CAFE-ED89-468A-1E212209D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557320"/>
              </p:ext>
            </p:extLst>
          </p:nvPr>
        </p:nvGraphicFramePr>
        <p:xfrm>
          <a:off x="1783314" y="4670717"/>
          <a:ext cx="7931408" cy="92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71520" imgH="253800" progId="Equation.DSMT4">
                  <p:embed/>
                </p:oleObj>
              </mc:Choice>
              <mc:Fallback>
                <p:oleObj name="Equation" r:id="rId3" imgW="2171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83314" y="4670717"/>
                        <a:ext cx="7931408" cy="92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D9F51-8661-5A74-F995-24DED223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16079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3547189-BEFF-F53C-00DA-EA29080D80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267FAD-1778-4888-C916-87BE63068595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3</a:t>
                </a:r>
                <a:r>
                  <a:rPr lang="zh-CN" altLang="en-US" dirty="0"/>
                  <a:t>、反向递推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刚体质心惯性力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𝑭𝒊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zh-CN" altLang="en-US" b="1" dirty="0"/>
                  <a:t>与 惯性力矩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/>
                  <a:t>：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由牛顿第二定律与欧拉方程。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267FAD-1778-4888-C916-87BE63068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83B39BE-4972-2402-DD9D-4FBC9E5AD7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762397"/>
              </p:ext>
            </p:extLst>
          </p:nvPr>
        </p:nvGraphicFramePr>
        <p:xfrm>
          <a:off x="4629019" y="3725554"/>
          <a:ext cx="1975215" cy="759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240" imgH="253800" progId="Equation.DSMT4">
                  <p:embed/>
                </p:oleObj>
              </mc:Choice>
              <mc:Fallback>
                <p:oleObj name="Equation" r:id="rId3" imgW="6602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29019" y="3725554"/>
                        <a:ext cx="1975215" cy="759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DAE0203-E31B-DA42-B2B8-3B9D71985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119892"/>
              </p:ext>
            </p:extLst>
          </p:nvPr>
        </p:nvGraphicFramePr>
        <p:xfrm>
          <a:off x="3261562" y="4901252"/>
          <a:ext cx="4710128" cy="759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253800" progId="Equation.DSMT4">
                  <p:embed/>
                </p:oleObj>
              </mc:Choice>
              <mc:Fallback>
                <p:oleObj name="Equation" r:id="rId5" imgW="15746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61562" y="4901252"/>
                        <a:ext cx="4710128" cy="759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A72404-1063-4CAB-E109-A8E84908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8377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95C50FA-95F4-786A-D264-BD6542CDC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E11A3C-70CB-7932-7520-548B1C30A3B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3</a:t>
                </a:r>
                <a:r>
                  <a:rPr lang="zh-CN" altLang="en-US" dirty="0"/>
                  <a:t>、反向递推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连杆间的作用力平衡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/>
                  <a:t>：</a:t>
                </a:r>
                <a:r>
                  <a:rPr lang="zh-CN" altLang="en-US" dirty="0"/>
                  <a:t>当前连杆受到的力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它需要施加给下一连杆的力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自身加速所需的惯性力。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连杆间的作用力矩平衡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/>
                  <a:t>：</a:t>
                </a:r>
                <a:r>
                  <a:rPr lang="zh-CN" altLang="en-US" dirty="0"/>
                  <a:t>当前连杆受到的力矩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自身惯性力矩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传给下一连杆的力矩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质心偏置力矩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坐标系平移力矩。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0E11A3C-70CB-7932-7520-548B1C30A3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B66C9EE-A0AA-C267-A27D-4A366F8FB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886736"/>
              </p:ext>
            </p:extLst>
          </p:nvPr>
        </p:nvGraphicFramePr>
        <p:xfrm>
          <a:off x="4543106" y="3429000"/>
          <a:ext cx="3105787" cy="728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41200" progId="Equation.DSMT4">
                  <p:embed/>
                </p:oleObj>
              </mc:Choice>
              <mc:Fallback>
                <p:oleObj name="Equation" r:id="rId3" imgW="10285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43106" y="3429000"/>
                        <a:ext cx="3105787" cy="728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9663838-DAF4-C6CE-6647-7B6425AED3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762082"/>
              </p:ext>
            </p:extLst>
          </p:nvPr>
        </p:nvGraphicFramePr>
        <p:xfrm>
          <a:off x="2032176" y="5437187"/>
          <a:ext cx="8127647" cy="770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79480" imgH="253800" progId="Equation.DSMT4">
                  <p:embed/>
                </p:oleObj>
              </mc:Choice>
              <mc:Fallback>
                <p:oleObj name="Equation" r:id="rId5" imgW="2679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32176" y="5437187"/>
                        <a:ext cx="8127647" cy="770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445707-0C33-D89F-5A6C-D305C87AA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39436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F10795A-D0EE-997D-DD84-861FB7060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4CF2BAF-6BB8-A3E4-9662-2CE0A9BF5AC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3</a:t>
                </a:r>
                <a:r>
                  <a:rPr lang="zh-CN" altLang="en-US" dirty="0"/>
                  <a:t>、反向递推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）</a:t>
                </a:r>
                <a:r>
                  <a:rPr lang="zh-CN" altLang="en-US" b="1" dirty="0"/>
                  <a:t>关节输出力矩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zh-CN" altLang="ar-AE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不管连杆受到多么复杂的空间力和力矩，电机只能提供沿自身旋转轴（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dirty="0"/>
                  <a:t> 轴）的力矩，其余的力矩由机械臂刚体结构自身承受。</a:t>
                </a:r>
                <a:endParaRPr lang="en-US" altLang="zh-CN" dirty="0"/>
              </a:p>
              <a:p>
                <a:pPr marL="0" indent="0">
                  <a:buNone/>
                </a:pPr>
                <a:br>
                  <a:rPr lang="zh-CN" altLang="en-US" dirty="0"/>
                </a:br>
                <a:endParaRPr lang="zh-CN" altLang="en-US" dirty="0"/>
              </a:p>
              <a:p>
                <a:pPr marL="0" indent="0">
                  <a:buNone/>
                </a:pPr>
                <a:br>
                  <a:rPr lang="ar-AE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4CF2BAF-6BB8-A3E4-9662-2CE0A9BF5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67" t="-1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1B6DE16-66A7-7D1F-4C16-0085A75BE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652844"/>
              </p:ext>
            </p:extLst>
          </p:nvPr>
        </p:nvGraphicFramePr>
        <p:xfrm>
          <a:off x="4474547" y="4441240"/>
          <a:ext cx="2306403" cy="995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8720" imgH="241200" progId="Equation.DSMT4">
                  <p:embed/>
                </p:oleObj>
              </mc:Choice>
              <mc:Fallback>
                <p:oleObj name="Equation" r:id="rId3" imgW="5587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74547" y="4441240"/>
                        <a:ext cx="2306403" cy="9959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BB6425-2E62-C787-A5A7-BEE11AFA4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00318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递推牛顿欧拉法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动力学验证</a:t>
            </a: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使用</a:t>
            </a:r>
            <a:r>
              <a:rPr lang="en-US" altLang="zh-CN" dirty="0">
                <a:sym typeface="+mn-ea"/>
              </a:rPr>
              <a:t>Simulink </a:t>
            </a:r>
            <a:r>
              <a:rPr lang="en-US" altLang="zh-CN" dirty="0" err="1">
                <a:sym typeface="+mn-ea"/>
              </a:rPr>
              <a:t>SimscapeMultibody</a:t>
            </a:r>
            <a:r>
              <a:rPr lang="zh-CN" altLang="en-US" dirty="0">
                <a:sym typeface="+mn-ea"/>
              </a:rPr>
              <a:t>进行仿真</a:t>
            </a:r>
            <a:endParaRPr lang="en-US" altLang="zh-CN" dirty="0"/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53781C-E1F6-4315-A39D-61273F2E0596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774700" y="2857500"/>
          <a:ext cx="6926580" cy="321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3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思路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关节输入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传感器输出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优劣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力矩验证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力矩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关节轨迹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多个因素交织，更加复杂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力矩对比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位置、速度、加速度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力矩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直接对比力矩数值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力矩作为输入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quarter" idx="11"/>
          </p:nvPr>
        </p:nvPicPr>
        <p:blipFill>
          <a:blip r:embed="rId2"/>
          <a:srcRect r="16621"/>
          <a:stretch>
            <a:fillRect/>
          </a:stretch>
        </p:blipFill>
        <p:spPr>
          <a:xfrm>
            <a:off x="668655" y="2179955"/>
            <a:ext cx="9142095" cy="43719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53781C-E1F6-4315-A39D-61273F2E0596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2180" y="1520190"/>
            <a:ext cx="72624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使用Simulink SimscapeMultibody进行仿真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力矩作为输入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53781C-E1F6-4315-A39D-61273F2E0596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75" y="1602740"/>
            <a:ext cx="8637905" cy="46920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DDF85EB-FB3F-4F6E-1460-6A6B7CA93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948403-5261-2EDA-57DC-06E37E3CB9D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代码验证：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Simulink </a:t>
            </a:r>
            <a:r>
              <a:rPr lang="en-US" altLang="zh-CN" dirty="0" err="1"/>
              <a:t>SimscapeMultibody</a:t>
            </a:r>
            <a:r>
              <a:rPr lang="zh-CN" altLang="en-US" dirty="0"/>
              <a:t>进行仿真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83E0DC-33C4-5185-C757-0D4A3434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42</a:t>
            </a:fld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A677A1-6E67-0665-9269-2D0D5E4E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66" y="2829811"/>
            <a:ext cx="8365067" cy="380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94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648E-02B1-374F-8560-D893FE4D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86DFB14-ED77-75CD-4BF6-F131929A2B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2E7A7-1A82-C1F5-9272-BCF6AEFAD60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9763" y="1420813"/>
            <a:ext cx="4761970" cy="46561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代码验证：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对每个关节施加同样的</a:t>
            </a:r>
            <a:r>
              <a:rPr lang="zh-CN" altLang="en-US" b="1" dirty="0"/>
              <a:t>正弦输入</a:t>
            </a:r>
            <a:r>
              <a:rPr lang="zh-CN" altLang="en-US" dirty="0"/>
              <a:t>，仿真输出各个关节所受力矩，同递推牛顿欧拉法计算出的各个关节所受力矩进行对比。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21B9B2-AEAB-1667-8D37-065D13D4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53781C-E1F6-4315-A39D-61273F2E0596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5" name="GEN3_URDF_V12">
            <a:hlinkClick r:id="" action="ppaction://media"/>
            <a:extLst>
              <a:ext uri="{FF2B5EF4-FFF2-40B4-BE49-F238E27FC236}">
                <a16:creationId xmlns:a16="http://schemas.microsoft.com/office/drawing/2014/main" id="{E796A749-A9A4-54A2-7AAA-31A32BC6C1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47431" y="1420813"/>
            <a:ext cx="5942014" cy="456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0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5139150-7C42-AB6A-34F8-34C71D400D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904893-3741-6501-C980-FB31F4A9FA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9763" y="1420813"/>
            <a:ext cx="3779837" cy="46561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代码验证：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编写脚本输出各个关节所受力矩的实验值（自己编写的</a:t>
            </a:r>
            <a:r>
              <a:rPr lang="en-US" altLang="zh-CN" dirty="0"/>
              <a:t>RNEA</a:t>
            </a:r>
            <a:r>
              <a:rPr lang="zh-CN" altLang="en-US" dirty="0"/>
              <a:t>函数）以及理论值（</a:t>
            </a:r>
            <a:r>
              <a:rPr lang="en-US" altLang="zh-CN" dirty="0"/>
              <a:t>multibody</a:t>
            </a:r>
            <a:r>
              <a:rPr lang="zh-CN" altLang="en-US" dirty="0"/>
              <a:t>仿真输出结果），以及误差曲线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A3E4ED-1B75-FA74-AD6E-3F02EE0C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44</a:t>
            </a:fld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D2853D-2270-BF98-440C-3A42A9CFE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861" y="1209135"/>
            <a:ext cx="7426199" cy="486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13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FE8B6EB-7AE1-693D-DD42-BD928BE1E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6F693A-8CBD-4D93-BC43-8DF9FBBF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45</a:t>
            </a:fld>
            <a:endParaRPr lang="zh-CN" alt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5AB22BB-D740-483C-CF75-2917A8622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62" y="1228802"/>
            <a:ext cx="3577351" cy="237714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62DC4BB-1767-E8DA-7148-66F0E3876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240" y="1194176"/>
            <a:ext cx="3577351" cy="23449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689F311-BD91-8B85-EB54-014360EEC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18" y="1194176"/>
            <a:ext cx="3577351" cy="239445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BB38C60-9EFA-A749-ADB6-9551C31F7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62" y="3682042"/>
            <a:ext cx="3577351" cy="239445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75235D1-29A3-6847-3EAE-2967B19EF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240" y="3682042"/>
            <a:ext cx="3621644" cy="23944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7234092-61B0-EC30-1595-9459CDA58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8118" y="3605942"/>
            <a:ext cx="3626498" cy="237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A04A233-C3A2-9F53-57D0-062B86C3F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递推牛顿欧拉法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FBC559-0BD7-542E-ACD4-E022085550D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639763" y="1420813"/>
                <a:ext cx="5313168" cy="465613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zh-CN" altLang="en-US" b="1" dirty="0"/>
                  <a:t>代码验证：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其中除了关节七，其余关节相对误差量级都小于</a:t>
                </a:r>
                <a:r>
                  <a:rPr lang="en-US" altLang="zh-CN" dirty="0"/>
                  <a:t>0.1%</a:t>
                </a:r>
                <a:r>
                  <a:rPr lang="zh-CN" altLang="en-US" dirty="0"/>
                  <a:t>，关节七的相对误差最大为</a:t>
                </a:r>
                <a:r>
                  <a:rPr lang="en-US" altLang="zh-CN" dirty="0"/>
                  <a:t>3.1%</a:t>
                </a:r>
                <a:r>
                  <a:rPr lang="zh-CN" altLang="en-US" dirty="0"/>
                  <a:t>，分析出现这样误差的原因可能是由于关节七本身所受力矩就很小（幅值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035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），导致算出来的相对误差百分比显得比其他关节稍大。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FBC559-0BD7-542E-ACD4-E022085550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639763" y="1420813"/>
                <a:ext cx="5313168" cy="4656137"/>
              </a:xfrm>
              <a:blipFill>
                <a:blip r:embed="rId2"/>
                <a:stretch>
                  <a:fillRect l="-2408" t="-1047" r="-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DBF09-E0CE-CFAE-99F5-E88047C7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46</a:t>
            </a:fld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78BACB-0BB0-8917-0F3A-4E5BF2406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931" y="1699572"/>
            <a:ext cx="6011685" cy="394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23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36BE-85E1-9D27-8959-C2664584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540546-2A1D-5C28-8838-0FF8846391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拉格朗日法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14E6BC-0ECE-018D-0736-A95C618919D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613569" y="1247317"/>
                <a:ext cx="10964862" cy="4656137"/>
              </a:xfrm>
            </p:spPr>
            <p:txBody>
              <a:bodyPr>
                <a:norm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建立机器人拉格朗日动力学方程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𝑑</m:t>
                          </m:r>
                        </m:num>
                        <m:den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zh-CN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kumimoji="0" lang="en-US" altLang="zh-C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charset="0"/>
                                </a:rPr>
                                <m:t>𝜕</m:t>
                              </m:r>
                              <m:acc>
                                <m:accPr>
                                  <m:chr m:val="̇"/>
                                  <m:ctrlPr>
                                    <a:rPr kumimoji="0" lang="zh-CN" altLang="zh-C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0" lang="zh-CN" altLang="zh-C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kumimoji="0" lang="en-US" altLang="zh-CN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den>
                          </m:f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𝜕</m:t>
                          </m:r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𝐿</m:t>
                          </m:r>
                        </m:num>
                        <m:den>
                          <m:r>
                            <a:rPr kumimoji="0" lang="en-US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0" lang="zh-CN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τ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,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𝐿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𝑇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−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𝑉</m:t>
                      </m:r>
                    </m:oMath>
                  </m:oMathPara>
                </a14:m>
                <a:endPara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     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整理成以下形式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𝑀</m:t>
                      </m:r>
                      <m:d>
                        <m:dPr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acc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+</m:t>
                      </m:r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𝐶</m:t>
                      </m:r>
                      <m:d>
                        <m:dPr>
                          <m:ctrlPr>
                            <a:rPr kumimoji="0" lang="zh-CN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𝑞</m:t>
                          </m:r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kumimoji="0" lang="zh-CN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acc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+</m:t>
                      </m:r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𝐺</m:t>
                      </m:r>
                      <m:d>
                        <m:dPr>
                          <m:ctrlPr>
                            <a:rPr kumimoji="0" lang="zh-CN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charset="0"/>
                        </a:rPr>
                        <m:t>𝜏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4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4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4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描述惯性特性，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𝐶</m:t>
                    </m:r>
                    <m:d>
                      <m:d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𝑞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𝑞</m:t>
                            </m:r>
                          </m:e>
                        </m:acc>
                      </m:e>
                    </m:d>
                    <m:acc>
                      <m:accPr>
                        <m:chr m:val="̇"/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zh-CN" altLang="en-US" sz="24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描述速度耦合项，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描述重力补偿项，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𝜏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是所求的力矩。</a:t>
                </a:r>
                <a:endParaRPr lang="en-US" altLang="zh-CN" sz="2400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400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400" dirty="0"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4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后续正动力学仿真就是在此模型基础上，由输入力矩求解机械臂运动响应。</a:t>
                </a:r>
                <a:endParaRPr lang="en-US" altLang="zh-CN" sz="24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14E6BC-0ECE-018D-0736-A95C61891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613569" y="1247317"/>
                <a:ext cx="10964862" cy="4656137"/>
              </a:xfrm>
              <a:blipFill>
                <a:blip r:embed="rId2"/>
                <a:stretch>
                  <a:fillRect l="-779" t="-917" r="-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571676-5323-9B77-53A9-A889C7D6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931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72C0-2BD9-DA4D-C178-67D36A89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60F85A0-3BDD-2BF4-0410-37CC12CA67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拉格朗日法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5C879A-58CF-E5E0-3210-AE3A2902405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372611" y="1057683"/>
                <a:ext cx="9611647" cy="5670572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由质心雅可比矩阵构造惯性矩阵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r>
                  <a:rPr lang="zh-CN" altLang="en-US" sz="2000" dirty="0"/>
                  <a:t>第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/>
                  <a:t>个连杆质心速度：</a:t>
                </a:r>
                <a:endParaRPr lang="en-US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acc>
                        <m:accPr>
                          <m:chr m:val="̇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/>
                  <a:t>第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/>
                  <a:t>个连杆角速度</a:t>
                </a:r>
                <a:r>
                  <a:rPr lang="en-US" altLang="zh-CN" sz="20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acc>
                        <m:accPr>
                          <m:chr m:val="̇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/>
                  <a:t>连杆动能：</a:t>
                </a:r>
                <a:endParaRPr lang="en-US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/>
                  <a:t>总动能：</a:t>
                </a:r>
                <a:endParaRPr lang="en-US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acc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sz="2000" dirty="0"/>
                  <a:t>惯性矩阵累加公式：</a:t>
                </a:r>
                <a:endParaRPr lang="zh-CN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altLang="zh-CN" sz="2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5C879A-58CF-E5E0-3210-AE3A29024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372611" y="1057683"/>
                <a:ext cx="9611647" cy="5670572"/>
              </a:xfrm>
              <a:blipFill>
                <a:blip r:embed="rId2"/>
                <a:stretch>
                  <a:fillRect l="-571" t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5E1A8-CB39-3132-4AAF-2813261C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48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B4229D-037E-067F-040F-520AA9267062}"/>
                  </a:ext>
                </a:extLst>
              </p:cNvPr>
              <p:cNvSpPr txBox="1"/>
              <p:nvPr/>
            </p:nvSpPr>
            <p:spPr>
              <a:xfrm>
                <a:off x="7465821" y="4727268"/>
                <a:ext cx="3923624" cy="977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代码对每个连杆读取质量、质心和惯性张量，计算质心位置，再构造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，最后累加得到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B4229D-037E-067F-040F-520AA9267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821" y="4727268"/>
                <a:ext cx="3923624" cy="977704"/>
              </a:xfrm>
              <a:prstGeom prst="rect">
                <a:avLst/>
              </a:prstGeom>
              <a:blipFill>
                <a:blip r:embed="rId3"/>
                <a:stretch>
                  <a:fillRect l="-1400" t="-3106" b="-5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1147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8258-C3B2-968B-39D7-A9A3C86E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D9C2AB6-6191-BDAC-F807-D4282F3546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拉格朗日法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C9C30E-E0C2-73E4-2C0E-3B6611B7B16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147143" y="981192"/>
                <a:ext cx="9892468" cy="5656268"/>
              </a:xfrm>
            </p:spPr>
            <p:txBody>
              <a:bodyPr>
                <a:noAutofit/>
              </a:bodyPr>
              <a:lstStyle/>
              <a:p>
                <a:pPr marL="0" lvl="0" indent="0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2000" dirty="0"/>
                  <a:t>科氏项与重力项计算</a:t>
                </a:r>
                <a:endParaRPr lang="en-US" altLang="zh-CN" sz="2000" dirty="0"/>
              </a:p>
              <a:p>
                <a:pPr>
                  <a:lnSpc>
                    <a:spcPts val="1100"/>
                  </a:lnSpc>
                </a:pPr>
                <a:r>
                  <a:rPr lang="zh-CN" altLang="en-US" sz="2000" dirty="0"/>
                  <a:t>科氏项：</a:t>
                </a:r>
                <a:endParaRPr lang="en-US" altLang="zh-CN" sz="2000" dirty="0"/>
              </a:p>
              <a:p>
                <a:pPr marL="0" indent="0">
                  <a:lnSpc>
                    <a:spcPts val="1100"/>
                  </a:lnSpc>
                  <a:buNone/>
                </a:pPr>
                <a:r>
                  <a:rPr lang="zh-CN" altLang="en-US" sz="2000" dirty="0"/>
                  <a:t>用中心差分计算：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zh-CN" altLang="zh-CN" sz="160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CN" altLang="zh-CN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acc>
                            <m:accPr>
                              <m:chr m:val="̇"/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ts val="1500"/>
                  </a:lnSpc>
                </a:pPr>
                <a:r>
                  <a:rPr lang="zh-CN" altLang="en-US" sz="2000" dirty="0"/>
                  <a:t>重力项</a:t>
                </a:r>
                <a:r>
                  <a:rPr lang="en-US" altLang="zh-CN" sz="2000" dirty="0"/>
                  <a:t>:</a:t>
                </a:r>
              </a:p>
              <a:p>
                <a:pPr marL="0" indent="0">
                  <a:lnSpc>
                    <a:spcPts val="1500"/>
                  </a:lnSpc>
                  <a:buNone/>
                </a:pPr>
                <a:r>
                  <a:rPr lang="zh-CN" altLang="en-US" sz="2000" dirty="0"/>
                  <a:t>总势能：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重力广义力：</a:t>
                </a:r>
                <a:endParaRPr lang="zh-CN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zh-CN" altLang="zh-CN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zh-CN" sz="160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zh-CN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CN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zh-CN" altLang="zh-CN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C9C30E-E0C2-73E4-2C0E-3B6611B7B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147143" y="981192"/>
                <a:ext cx="9892468" cy="5656268"/>
              </a:xfrm>
              <a:blipFill>
                <a:blip r:embed="rId2"/>
                <a:stretch>
                  <a:fillRect l="-616" t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66715E-F115-4264-C4FB-778ACE0A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49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032BD83-5B18-FEB4-CE71-157A543DE327}"/>
                  </a:ext>
                </a:extLst>
              </p:cNvPr>
              <p:cNvSpPr txBox="1"/>
              <p:nvPr/>
            </p:nvSpPr>
            <p:spPr>
              <a:xfrm>
                <a:off x="7747348" y="5830866"/>
                <a:ext cx="17599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dirty="0"/>
                  <a:t>最终可求得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𝜏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032BD83-5B18-FEB4-CE71-157A543DE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348" y="5830866"/>
                <a:ext cx="1759907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5814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5C450-CA26-F0A5-4D55-049C9C85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26F2CC3-CDF9-9E65-5D5A-690F62EC9E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拉格朗日法动力学正解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4F853D-10FE-9D38-F7FB-076EC275C8BE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147143" y="981192"/>
                <a:ext cx="9497306" cy="5656268"/>
              </a:xfrm>
            </p:spPr>
            <p:txBody>
              <a:bodyPr>
                <a:noAutofit/>
              </a:bodyPr>
              <a:lstStyle/>
              <a:p>
                <a:pPr marL="0" lv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2000" dirty="0"/>
                  <a:t>代码最终计算：</a:t>
                </a:r>
                <a:endParaRPr lang="en-US" altLang="zh-CN" sz="2000" dirty="0"/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𝜏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zh-CN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𝐶</m:t>
                      </m:r>
                      <m:d>
                        <m:dPr>
                          <m:ctrlPr>
                            <a:rPr lang="zh-CN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𝑞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zh-CN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acc>
                        <m:accPr>
                          <m:chr m:val="̇"/>
                          <m:ctrlPr>
                            <a:rPr lang="zh-CN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𝐺</m:t>
                      </m:r>
                      <m:d>
                        <m:dPr>
                          <m:ctrlPr>
                            <a:rPr lang="zh-CN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zh-CN" sz="1600" dirty="0"/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2000" dirty="0"/>
                  <a:t>这是逆动力学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00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̈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000">
                        <a:latin typeface="Cambria Math" panose="02040503050406030204" pitchFamily="18" charset="0"/>
                      </a:rPr>
                      <m:t>⟶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endParaRPr lang="zh-CN" altLang="zh-CN" sz="2000" dirty="0"/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2000" dirty="0"/>
                  <a:t>如果用于动力学正解，则已知输入力矩和初始状态，求机械臂运动</a:t>
                </a:r>
                <a:endParaRPr lang="en-US" altLang="zh-CN" sz="2000" dirty="0"/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2000" dirty="0"/>
                  <a:t>动力学正解方程：</a:t>
                </a:r>
                <a:endParaRPr lang="en-US" altLang="zh-CN" sz="2000" dirty="0"/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τ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̇"/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2000" dirty="0"/>
                  <a:t>整体思路：</a:t>
                </a:r>
                <a:endParaRPr lang="zh-CN" altLang="zh-CN" sz="2000" dirty="0"/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0​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0​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̈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)→</m:t>
                      </m:r>
                      <m:acc>
                        <m:accPr>
                          <m:chr m:val="̇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​(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zh-CN" altLang="en-US" sz="2000" dirty="0"/>
                  <a:t>在每个时刻先由之前的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和此时的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/>
                  <a:t>计算关节加速度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US" altLang="zh-CN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/>
                  <a:t>，再通过数值积分得到当前的速度和位置。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zh-CN" altLang="zh-CN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4F853D-10FE-9D38-F7FB-076EC275C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147143" y="981192"/>
                <a:ext cx="9497306" cy="5656268"/>
              </a:xfrm>
              <a:blipFill>
                <a:blip r:embed="rId2"/>
                <a:stretch>
                  <a:fillRect l="-642" r="-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1BC48B-6AD8-F5E7-9CD2-A5DECB10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57731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873CB-78AC-94B3-86E6-DC53B7A54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E4A9BF7-89FA-0ACD-AD90-7C0AE0E8AD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拉格朗日法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10C6E2-8845-4F0F-7BC4-D9C38D33F61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522374" y="1716168"/>
                <a:ext cx="10067367" cy="45783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代码验证：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dirty="0"/>
                  <a:t>将牛顿欧拉法的测试脚本中的输出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dirty="0"/>
                  <a:t>改成由拉格朗日法输出，最后结果与之前的效果保持一致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10C6E2-8845-4F0F-7BC4-D9C38D33F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522374" y="1716168"/>
                <a:ext cx="10067367" cy="4578392"/>
              </a:xfrm>
              <a:blipFill>
                <a:blip r:embed="rId2"/>
                <a:stretch>
                  <a:fillRect l="-1272" t="-5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A6C47A-9889-5673-2206-76394798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51</a:t>
            </a:fld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653626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57D9972-C48F-9F93-67A0-8A35849484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"/>
            <a:ext cx="12182476" cy="856210"/>
          </a:xfrm>
        </p:spPr>
        <p:txBody>
          <a:bodyPr/>
          <a:lstStyle/>
          <a:p>
            <a:r>
              <a:rPr lang="zh-CN" altLang="en-US" dirty="0"/>
              <a:t>后续计划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9DB2665-5563-1888-1550-3766B4622A1C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625532420"/>
              </p:ext>
            </p:extLst>
          </p:nvPr>
        </p:nvGraphicFramePr>
        <p:xfrm>
          <a:off x="627017" y="1420813"/>
          <a:ext cx="10977609" cy="4745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9203">
                  <a:extLst>
                    <a:ext uri="{9D8B030D-6E8A-4147-A177-3AD203B41FA5}">
                      <a16:colId xmlns:a16="http://schemas.microsoft.com/office/drawing/2014/main" val="2755362591"/>
                    </a:ext>
                  </a:extLst>
                </a:gridCol>
                <a:gridCol w="3659203">
                  <a:extLst>
                    <a:ext uri="{9D8B030D-6E8A-4147-A177-3AD203B41FA5}">
                      <a16:colId xmlns:a16="http://schemas.microsoft.com/office/drawing/2014/main" val="1819092185"/>
                    </a:ext>
                  </a:extLst>
                </a:gridCol>
                <a:gridCol w="3659203">
                  <a:extLst>
                    <a:ext uri="{9D8B030D-6E8A-4147-A177-3AD203B41FA5}">
                      <a16:colId xmlns:a16="http://schemas.microsoft.com/office/drawing/2014/main" val="2967292355"/>
                    </a:ext>
                  </a:extLst>
                </a:gridCol>
              </a:tblGrid>
              <a:tr h="8705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主要任务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计划与方法调研（主要负责）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具体实施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65794"/>
                  </a:ext>
                </a:extLst>
              </a:tr>
              <a:tr h="18392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控制系统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dirty="0"/>
                        <a:t>吕管超 张顾璇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合作进行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0049313"/>
                  </a:ext>
                </a:extLst>
              </a:tr>
              <a:tr h="18392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轨迹规划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dirty="0"/>
                        <a:t>梅</a:t>
                      </a:r>
                      <a:r>
                        <a:rPr lang="zh-CN" altLang="en-US" sz="3200"/>
                        <a:t>笑寒 任义文</a:t>
                      </a:r>
                      <a:endParaRPr lang="zh-CN" altLang="en-US" sz="3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41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3113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 txBox="1"/>
          <p:nvPr/>
        </p:nvSpPr>
        <p:spPr>
          <a:xfrm>
            <a:off x="0" y="1671848"/>
            <a:ext cx="12192000" cy="1332761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  <p:txBody>
          <a:bodyPr vert="horz" lIns="144000" tIns="144000" rIns="144000" bIns="1440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9600" spc="300" dirty="0"/>
              <a:t>谢谢大家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B77F76EC9DD7B2119C383208CB313E667331C6DB0D152EE1EBEA1A48EE90531F" val="[{&quot;GradientColorId&quot;:&quot;&quot;,&quot;IsFree&quot;:true,&quot;IsGradient&quot;:false,&quot;ImagePath&quot;:&quot;&quot;,&quot;GradientColor&quot;:null,&quot;SimpleColor&quot;:&quot;#000000&quot;},{&quot;GradientColorId&quot;:&quot;&quot;,&quot;IsFree&quot;:true,&quot;IsGradient&quot;:false,&quot;ImagePath&quot;:&quot;&quot;,&quot;GradientColor&quot;:null,&quot;SimpleColor&quot;:&quot;#D6EAFF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8381889763779,&quot;left&quot;:386.69078740157477,&quot;top&quot;:107.08905511811024,&quot;width&quot;:573.309212598425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8381889763779,&quot;left&quot;:386.69078740157477,&quot;top&quot;:107.08905511811024,&quot;width&quot;:573.309212598425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8381889763779,&quot;left&quot;:386.69078740157477,&quot;top&quot;:107.08905511811024,&quot;width&quot;:573.309212598425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8381889763779,&quot;left&quot;:386.69078740157477,&quot;top&quot;:107.08905511811024,&quot;width&quot;:573.3092125984252}"/>
</p:tagLst>
</file>

<file path=ppt/theme/theme1.xml><?xml version="1.0" encoding="utf-8"?>
<a:theme xmlns:a="http://schemas.openxmlformats.org/drawingml/2006/main" name="1_Office 主题​​">
  <a:themeElements>
    <a:clrScheme name="SJTU-学术">
      <a:dk1>
        <a:srgbClr val="000000"/>
      </a:dk1>
      <a:lt1>
        <a:srgbClr val="FFFFFF"/>
      </a:lt1>
      <a:dk2>
        <a:srgbClr val="003264"/>
      </a:dk2>
      <a:lt2>
        <a:srgbClr val="D9D9D9"/>
      </a:lt2>
      <a:accent1>
        <a:srgbClr val="004098"/>
      </a:accent1>
      <a:accent2>
        <a:srgbClr val="2B75CF"/>
      </a:accent2>
      <a:accent3>
        <a:srgbClr val="BD9F68"/>
      </a:accent3>
      <a:accent4>
        <a:srgbClr val="C55A11"/>
      </a:accent4>
      <a:accent5>
        <a:srgbClr val="FFC000"/>
      </a:accent5>
      <a:accent6>
        <a:srgbClr val="A6A6A6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SJTU-学术">
      <a:dk1>
        <a:srgbClr val="000000"/>
      </a:dk1>
      <a:lt1>
        <a:srgbClr val="FFFFFF"/>
      </a:lt1>
      <a:dk2>
        <a:srgbClr val="003264"/>
      </a:dk2>
      <a:lt2>
        <a:srgbClr val="D9D9D9"/>
      </a:lt2>
      <a:accent1>
        <a:srgbClr val="004098"/>
      </a:accent1>
      <a:accent2>
        <a:srgbClr val="2B75CF"/>
      </a:accent2>
      <a:accent3>
        <a:srgbClr val="BD9F68"/>
      </a:accent3>
      <a:accent4>
        <a:srgbClr val="C55A11"/>
      </a:accent4>
      <a:accent5>
        <a:srgbClr val="FFC000"/>
      </a:accent5>
      <a:accent6>
        <a:srgbClr val="A6A6A6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2998</Words>
  <Application>Microsoft Office PowerPoint</Application>
  <PresentationFormat>宽屏</PresentationFormat>
  <Paragraphs>396</Paragraphs>
  <Slides>53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1" baseType="lpstr">
      <vt:lpstr>等线</vt:lpstr>
      <vt:lpstr>微软雅黑</vt:lpstr>
      <vt:lpstr>Arial</vt:lpstr>
      <vt:lpstr>Arial Black</vt:lpstr>
      <vt:lpstr>Cambria Math</vt:lpstr>
      <vt:lpstr>1_Office 主题​​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笑寒 梅</dc:creator>
  <cp:lastModifiedBy>顾璇 张</cp:lastModifiedBy>
  <cp:revision>13</cp:revision>
  <dcterms:created xsi:type="dcterms:W3CDTF">2026-05-25T01:55:08Z</dcterms:created>
  <dcterms:modified xsi:type="dcterms:W3CDTF">2026-05-25T09:16:04Z</dcterms:modified>
</cp:coreProperties>
</file>