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93" r:id="rId2"/>
    <p:sldId id="294" r:id="rId3"/>
    <p:sldId id="299" r:id="rId4"/>
    <p:sldId id="295" r:id="rId5"/>
    <p:sldId id="296" r:id="rId6"/>
    <p:sldId id="297" r:id="rId7"/>
    <p:sldId id="298" r:id="rId8"/>
    <p:sldId id="300" r:id="rId9"/>
    <p:sldId id="301" r:id="rId10"/>
    <p:sldId id="302" r:id="rId11"/>
    <p:sldId id="303" r:id="rId12"/>
    <p:sldId id="304" r:id="rId13"/>
    <p:sldId id="30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6.97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24575,'5'1'0,"-1"1"0,0-1 0,1 1 0,-1 0 0,0 0 0,0 1 0,0-1 0,0 1 0,0 0 0,-1-1 0,1 2 0,2 2 0,0 0 0,47 46 0,-2 2 0,59 82 0,-53-63 0,-8-11 0,236 307 0,15 31 0,-93-137 0,-170-210 0,-1 1 0,41 87 0,38 59 0,-51-112 0,-29-44 0,46 81 0,-64-97 0,41 51 0,-8-13 0,82 135 0,-114-176 0,34 39 0,-20-27 0,5 0 0,-29-30 0,1 1 0,-2 0 0,1 0 0,-1 0 0,9 15 0,48 93 0,-57-102-1365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35A73-7B61-49C0-9214-6EE5EE54F62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A849E-5177-40D2-9B12-581462A78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98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A849E-5177-40D2-9B12-581462A786C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4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115F-3C32-3256-718D-D124CC622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EBF9A6-3C64-3848-5402-6E721CF86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B8323C-44B4-B8EE-3359-59AA5FD43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DDE72-2739-A834-1203-5A88BB2BD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A849E-5177-40D2-9B12-581462A786C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429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698DA-A01A-25BA-30BB-6924F742B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9A3806-0097-075A-6755-779FB5D9D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EC0FAA-7FB7-8DEC-36A5-3E1DC8079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675851-6683-F755-E4BB-46E09DA6B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A849E-5177-40D2-9B12-581462A786C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383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7A617-B7A3-2658-B09B-C14D234D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A8899F-FE84-F11D-B5E6-447D110C2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E1F0EF-0938-E9FE-A512-50BF06BD7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5BCD68-092B-C861-853A-EBDA4C2E0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A849E-5177-40D2-9B12-581462A786C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568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5EAA9-F399-3CDC-0A12-ED2248773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867C99-C2DF-A83E-D648-31E1C139C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75534A-10C2-1287-89D2-80C73CF72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7467CD-7A1A-4D1E-AFBF-C9B40CC83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A849E-5177-40D2-9B12-581462A786C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172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573058"/>
            <a:ext cx="12192000" cy="2857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6009" t="-18105" r="1201" b="1"/>
          <a:stretch>
            <a:fillRect/>
          </a:stretch>
        </p:blipFill>
        <p:spPr>
          <a:xfrm>
            <a:off x="-8468" y="2560319"/>
            <a:ext cx="12200467" cy="660689"/>
          </a:xfrm>
          <a:prstGeom prst="rect">
            <a:avLst/>
          </a:prstGeom>
        </p:spPr>
      </p:pic>
      <p:sp>
        <p:nvSpPr>
          <p:cNvPr id="13" name="内容占位符 2"/>
          <p:cNvSpPr>
            <a:spLocks noGrp="1"/>
          </p:cNvSpPr>
          <p:nvPr>
            <p:ph sz="quarter" idx="12" hasCustomPrompt="1"/>
          </p:nvPr>
        </p:nvSpPr>
        <p:spPr>
          <a:xfrm>
            <a:off x="4102835" y="4544189"/>
            <a:ext cx="3975953" cy="45402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fld id="{E42970F4-9EF3-4E0A-91E0-2B480D8FBBAF}" type="datetime2">
              <a:rPr lang="zh-CN" altLang="en-US" smtClean="0"/>
              <a:t>​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" y="5086796"/>
            <a:ext cx="4225394" cy="138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8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95" descr="图片包含 天空, 泰迪熊, 熊, 建筑物&#10;&#10;自动生成的说明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0" r="23380"/>
          <a:stretch>
            <a:fillRect/>
          </a:stretch>
        </p:blipFill>
        <p:spPr>
          <a:xfrm>
            <a:off x="0" y="2109743"/>
            <a:ext cx="3705223" cy="474825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0" y="1"/>
            <a:ext cx="3705225" cy="3230879"/>
            <a:chOff x="0" y="1"/>
            <a:chExt cx="3705225" cy="3230879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1"/>
              <a:ext cx="3705225" cy="21234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2123439"/>
              <a:ext cx="3705225" cy="110744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 descr="图片包含 建筑物&#10;&#10;自动生成的说明"/>
          <p:cNvPicPr>
            <a:picLocks noChangeAspect="1"/>
          </p:cNvPicPr>
          <p:nvPr userDrawn="1"/>
        </p:nvPicPr>
        <p:blipFill>
          <a:blip r:embed="rId3" cstate="print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224" y="2047874"/>
            <a:ext cx="8486775" cy="3457575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569118" y="1160150"/>
            <a:ext cx="256698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目  录</a:t>
            </a:r>
            <a:endParaRPr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rPr>
              <a:t>CONTENT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j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0" y="198623"/>
            <a:ext cx="2847974" cy="93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9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760" t="-18106" r="1202" b="-17978"/>
          <a:stretch>
            <a:fillRect/>
          </a:stretch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813832" y="0"/>
            <a:ext cx="4824967" cy="6858000"/>
            <a:chOff x="975757" y="0"/>
            <a:chExt cx="4824967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7" y="0"/>
              <a:ext cx="4824967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ONE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313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58" y="0"/>
            <a:ext cx="4824967" cy="6858000"/>
          </a:xfrm>
          <a:prstGeom prst="rect">
            <a:avLst/>
          </a:prstGeom>
          <a:effectLst>
            <a:outerShdw blurRad="114300" dist="139700" algn="l" rotWithShape="0">
              <a:prstClr val="black">
                <a:alpha val="20000"/>
              </a:prstClr>
            </a:outerShdw>
          </a:effectLst>
        </p:spPr>
      </p:pic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-16667" r="1202" b="-17979"/>
            <a:stretch>
              <a:fillRect/>
            </a:stretch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11456" r="39636" b="-17978"/>
            <a:stretch>
              <a:fillRect/>
            </a:stretch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 userDrawn="1"/>
        </p:nvSpPr>
        <p:spPr>
          <a:xfrm>
            <a:off x="7089775" y="3089701"/>
            <a:ext cx="3645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rPr>
              <a:t>PART ONE</a:t>
            </a:r>
            <a:endParaRPr lang="zh-CN" altLang="en-U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j-ea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46" y="1068380"/>
            <a:ext cx="1867505" cy="15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1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2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760" t="-18106" r="1202" b="-17978"/>
          <a:stretch>
            <a:fillRect/>
          </a:stretch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813833" y="0"/>
            <a:ext cx="4824966" cy="6858000"/>
            <a:chOff x="975758" y="0"/>
            <a:chExt cx="4824966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8" y="0"/>
              <a:ext cx="4824966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TWO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3993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-16667" r="1202" b="-17979"/>
            <a:stretch>
              <a:fillRect/>
            </a:stretch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11456" r="39636" b="-17978"/>
            <a:stretch>
              <a:fillRect/>
            </a:stretch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6500259" y="0"/>
            <a:ext cx="4824966" cy="6858000"/>
            <a:chOff x="975758" y="0"/>
            <a:chExt cx="4824966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8" y="0"/>
              <a:ext cx="4824966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TWO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061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760" t="-18106" r="1202" b="-17978"/>
          <a:stretch>
            <a:fillRect/>
          </a:stretch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813831" y="0"/>
            <a:ext cx="4824967" cy="6858000"/>
            <a:chOff x="813831" y="0"/>
            <a:chExt cx="4824967" cy="6858000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813831" y="0"/>
              <a:ext cx="4824967" cy="6858000"/>
              <a:chOff x="975756" y="0"/>
              <a:chExt cx="4824967" cy="6858000"/>
            </a:xfrm>
          </p:grpSpPr>
          <p:pic>
            <p:nvPicPr>
              <p:cNvPr id="8" name="图片 7"/>
              <p:cNvPicPr>
                <a:picLocks noChangeAspect="1"/>
              </p:cNvPicPr>
              <p:nvPr userDrawn="1"/>
            </p:nvPicPr>
            <p:blipFill>
              <a:blip r:embed="rId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contrast="40000"/>
                        </a14:imgEffect>
                        <a14:imgEffect>
                          <a14:colorTemperature colorTemp="7200"/>
                        </a14:imgEffect>
                        <a14:imgEffect>
                          <a14:sharpenSoften amount="2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5756" y="0"/>
                <a:ext cx="4824967" cy="6858000"/>
              </a:xfrm>
              <a:prstGeom prst="rect">
                <a:avLst/>
              </a:prstGeom>
              <a:effectLst>
                <a:outerShdw blurRad="114300" dist="139700" algn="l" rotWithShape="0">
                  <a:prstClr val="black">
                    <a:alpha val="20000"/>
                  </a:prstClr>
                </a:outerShdw>
              </a:effectLst>
            </p:spPr>
          </p:pic>
          <p:sp>
            <p:nvSpPr>
              <p:cNvPr id="11" name="文本框 10"/>
              <p:cNvSpPr txBox="1"/>
              <p:nvPr userDrawn="1"/>
            </p:nvSpPr>
            <p:spPr>
              <a:xfrm>
                <a:off x="1266825" y="3089701"/>
                <a:ext cx="42576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zh-CN" sz="4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j-ea"/>
                  </a:rPr>
                  <a:t>PART THREE</a:t>
                </a:r>
                <a:endParaRPr lang="zh-CN" altLang="en-US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6845" y="1068380"/>
                <a:ext cx="1867505" cy="1523492"/>
              </a:xfrm>
              <a:prstGeom prst="rect">
                <a:avLst/>
              </a:prstGeom>
            </p:spPr>
          </p:pic>
        </p:grpSp>
        <p:sp>
          <p:nvSpPr>
            <p:cNvPr id="2" name="矩形 1"/>
            <p:cNvSpPr/>
            <p:nvPr userDrawn="1"/>
          </p:nvSpPr>
          <p:spPr>
            <a:xfrm>
              <a:off x="2738438" y="4081463"/>
              <a:ext cx="1204912" cy="369848"/>
            </a:xfrm>
            <a:prstGeom prst="rect">
              <a:avLst/>
            </a:prstGeom>
            <a:solidFill>
              <a:srgbClr val="B5A3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0522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-16667" r="1202" b="-17979"/>
            <a:stretch>
              <a:fillRect/>
            </a:stretch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11456" r="39636" b="-17978"/>
            <a:stretch>
              <a:fillRect/>
            </a:stretch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 userDrawn="1"/>
        </p:nvGrpSpPr>
        <p:grpSpPr>
          <a:xfrm>
            <a:off x="6500256" y="0"/>
            <a:ext cx="4824967" cy="6858000"/>
            <a:chOff x="813831" y="0"/>
            <a:chExt cx="4824967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  <a14:imgEffect>
                        <a14:colorTemperature colorTemp="7200"/>
                      </a14:imgEffect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831" y="0"/>
              <a:ext cx="4824967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2" name="矩形 11"/>
            <p:cNvSpPr/>
            <p:nvPr userDrawn="1"/>
          </p:nvSpPr>
          <p:spPr>
            <a:xfrm>
              <a:off x="2738438" y="4081463"/>
              <a:ext cx="1204912" cy="369848"/>
            </a:xfrm>
            <a:prstGeom prst="rect">
              <a:avLst/>
            </a:prstGeom>
            <a:solidFill>
              <a:srgbClr val="B5A3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500257" y="1068380"/>
            <a:ext cx="4824968" cy="2852318"/>
            <a:chOff x="975756" y="1068380"/>
            <a:chExt cx="4824968" cy="2852318"/>
          </a:xfrm>
        </p:grpSpPr>
        <p:sp>
          <p:nvSpPr>
            <p:cNvPr id="11" name="文本框 10"/>
            <p:cNvSpPr txBox="1"/>
            <p:nvPr userDrawn="1"/>
          </p:nvSpPr>
          <p:spPr>
            <a:xfrm>
              <a:off x="975756" y="3089701"/>
              <a:ext cx="48249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THREE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31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4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760" t="-18106" r="1202" b="-17978"/>
          <a:stretch>
            <a:fillRect/>
          </a:stretch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821252" y="0"/>
            <a:ext cx="4824969" cy="6858000"/>
            <a:chOff x="975755" y="0"/>
            <a:chExt cx="4824969" cy="685800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5" y="0"/>
              <a:ext cx="4824969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9" name="文本框 18"/>
            <p:cNvSpPr txBox="1"/>
            <p:nvPr userDrawn="1"/>
          </p:nvSpPr>
          <p:spPr>
            <a:xfrm>
              <a:off x="1295399" y="3089701"/>
              <a:ext cx="4219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FOUR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5568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4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0" y="3719299"/>
            <a:ext cx="12192001" cy="682058"/>
            <a:chOff x="0" y="3667540"/>
            <a:chExt cx="12192001" cy="682058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-16667" r="1202" b="-17979"/>
            <a:stretch>
              <a:fillRect/>
            </a:stretch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11456" r="39636" b="-17978"/>
            <a:stretch>
              <a:fillRect/>
            </a:stretch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6500256" y="0"/>
            <a:ext cx="4824969" cy="6858000"/>
            <a:chOff x="975755" y="0"/>
            <a:chExt cx="4824969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5" y="0"/>
              <a:ext cx="4824969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295399" y="3089701"/>
              <a:ext cx="4219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FOUR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238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/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606" t="-18105" r="1201" b="1"/>
            <a:stretch>
              <a:fillRect/>
            </a:stretch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1" hasCustomPrompt="1"/>
          </p:nvPr>
        </p:nvSpPr>
        <p:spPr>
          <a:xfrm>
            <a:off x="639763" y="1420813"/>
            <a:ext cx="10964862" cy="4656137"/>
          </a:xfrm>
        </p:spPr>
        <p:txBody>
          <a:bodyPr/>
          <a:lstStyle>
            <a:lvl1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8001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2573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1419"/>
          <a:stretch>
            <a:fillRect/>
          </a:stretch>
        </p:blipFill>
        <p:spPr>
          <a:xfrm>
            <a:off x="193905" y="122669"/>
            <a:ext cx="659535" cy="61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83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/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606" t="-18105" r="1201" b="1"/>
            <a:stretch>
              <a:fillRect/>
            </a:stretch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19"/>
            <a:stretch>
              <a:fillRect/>
            </a:stretch>
          </p:blipFill>
          <p:spPr>
            <a:xfrm>
              <a:off x="193905" y="122669"/>
              <a:ext cx="659535" cy="610870"/>
            </a:xfrm>
            <a:prstGeom prst="rect">
              <a:avLst/>
            </a:prstGeom>
          </p:spPr>
        </p:pic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9493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/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606" t="-18105" r="1201" b="1"/>
            <a:stretch>
              <a:fillRect/>
            </a:stretch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19"/>
            <a:stretch>
              <a:fillRect/>
            </a:stretch>
          </p:blipFill>
          <p:spPr>
            <a:xfrm>
              <a:off x="193905" y="122669"/>
              <a:ext cx="659535" cy="610870"/>
            </a:xfrm>
            <a:prstGeom prst="rect">
              <a:avLst/>
            </a:prstGeom>
          </p:spPr>
        </p:pic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140671" y="6291045"/>
            <a:ext cx="56697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SJTU ICON LIBRARY Copyright © 2021 Invictus. All rights reserved. 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867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纯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8303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986" y="165372"/>
            <a:ext cx="3264645" cy="107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72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573058"/>
            <a:ext cx="12192000" cy="38871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6009" t="-18105" r="1201" b="1"/>
          <a:stretch>
            <a:fillRect/>
          </a:stretch>
        </p:blipFill>
        <p:spPr>
          <a:xfrm>
            <a:off x="-8468" y="3503541"/>
            <a:ext cx="12200467" cy="66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79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5409398"/>
          </a:xfrm>
        </p:grpSpPr>
        <p:sp>
          <p:nvSpPr>
            <p:cNvPr id="2" name="矩形 1"/>
            <p:cNvSpPr/>
            <p:nvPr userDrawn="1"/>
          </p:nvSpPr>
          <p:spPr>
            <a:xfrm>
              <a:off x="0" y="3295018"/>
              <a:ext cx="12192000" cy="2114380"/>
            </a:xfrm>
            <a:prstGeom prst="rect">
              <a:avLst/>
            </a:prstGeom>
            <a:gradFill>
              <a:gsLst>
                <a:gs pos="0">
                  <a:schemeClr val="accent1">
                    <a:alpha val="6200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-1" y="0"/>
              <a:ext cx="12192001" cy="32950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6009" t="-18105" r="1201" b="1"/>
          <a:stretch>
            <a:fillRect/>
          </a:stretch>
        </p:blipFill>
        <p:spPr>
          <a:xfrm>
            <a:off x="0" y="5877294"/>
            <a:ext cx="12200467" cy="66068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640" y="350311"/>
            <a:ext cx="2534311" cy="206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7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4518D-F1E1-42FE-ADB3-4B6EED64287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756E6-AE62-4EF0-9CF6-DF3EBBB783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278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/>
        </p:nvSpPr>
        <p:spPr>
          <a:xfrm>
            <a:off x="457200" y="1908279"/>
            <a:ext cx="5467350" cy="1638300"/>
          </a:xfrm>
          <a:prstGeom prst="rect">
            <a:avLst/>
          </a:prstGeom>
        </p:spPr>
        <p:txBody>
          <a:bodyPr vert="horz" lIns="144000" tIns="144000" rIns="144000" bIns="14400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轨迹跟踪控制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sp>
        <p:nvSpPr>
          <p:cNvPr id="17" name="内容占位符 16"/>
          <p:cNvSpPr>
            <a:spLocks noGrp="1"/>
          </p:cNvSpPr>
          <p:nvPr>
            <p:ph sz="quarter" idx="11"/>
          </p:nvPr>
        </p:nvSpPr>
        <p:spPr>
          <a:xfrm>
            <a:off x="510888" y="1310348"/>
            <a:ext cx="10964862" cy="4656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、核心方法</a:t>
            </a:r>
            <a:endParaRPr lang="en-US" altLang="zh-CN" sz="2400" b="1" dirty="0"/>
          </a:p>
          <a:p>
            <a:r>
              <a:rPr lang="zh-CN" altLang="en-US" sz="2400" dirty="0"/>
              <a:t>实际系统存在制造公差、装配误差、负载变化，理论计算算出的力矩直接作用在机器人上，很可能会产生轨迹偏离</a:t>
            </a:r>
          </a:p>
          <a:p>
            <a:r>
              <a:rPr lang="zh-CN" altLang="en-US" sz="2400" dirty="0"/>
              <a:t>设计目的：让控制器在“不知道真实参数”的情况下，仍能精准跟踪。</a:t>
            </a:r>
            <a:endParaRPr lang="en-US" altLang="zh-CN" sz="2400" dirty="0"/>
          </a:p>
          <a:p>
            <a:r>
              <a:rPr lang="zh-CN" altLang="en-US" sz="2400" dirty="0"/>
              <a:t>解决思路：前馈</a:t>
            </a:r>
            <a:r>
              <a:rPr lang="en-US" altLang="zh-CN" sz="2400" dirty="0"/>
              <a:t>+</a:t>
            </a:r>
            <a:r>
              <a:rPr lang="zh-CN" altLang="en-US" sz="2400" dirty="0"/>
              <a:t>反馈</a:t>
            </a:r>
            <a:r>
              <a:rPr lang="en-US" altLang="zh-CN" sz="2400" dirty="0"/>
              <a:t>+</a:t>
            </a:r>
            <a:r>
              <a:rPr lang="zh-CN" altLang="en-US" sz="2400" dirty="0"/>
              <a:t>鲁棒项</a:t>
            </a:r>
            <a:endParaRPr lang="en-US" altLang="zh-CN" sz="2400" dirty="0"/>
          </a:p>
          <a:p>
            <a:r>
              <a:rPr lang="zh-CN" altLang="en-US" sz="2400" dirty="0"/>
              <a:t>被控对象始终用真实参数</a:t>
            </a:r>
            <a:r>
              <a:rPr lang="en-US" altLang="zh-CN" sz="2400" dirty="0"/>
              <a:t>:</a:t>
            </a:r>
            <a:r>
              <a:rPr lang="zh-CN" altLang="en-US" sz="2400" dirty="0"/>
              <a:t>在真实世界里，机械臂的真实质量、质心、惯性张量当然不会因为控制器估错了就改变。所以仿真里应该让被控对象始终使用真实参数</a:t>
            </a:r>
            <a:r>
              <a:rPr lang="en-US" altLang="zh-CN" sz="2400" dirty="0"/>
              <a:t>;</a:t>
            </a:r>
            <a:r>
              <a:rPr lang="zh-CN" altLang="en-US" sz="2400" dirty="0"/>
              <a:t>而控制器前馈项故意使用扰动后的名义参数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8F2F6-90D0-1794-63C6-929259390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B7D2FB5-7399-0CB9-1565-A5BB4B1474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AA0A012F-C524-0AB7-E598-A26F87BE40C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、惯性参数偏差选择</a:t>
            </a:r>
          </a:p>
          <a:p>
            <a:r>
              <a:rPr lang="zh-CN" altLang="en-US" sz="2400" dirty="0"/>
              <a:t>对真实惯性参数乘以独立系数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BBBBE9-D5E9-219C-10AF-99BDC30F5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48" y="2799954"/>
            <a:ext cx="6944694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10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sp>
        <p:nvSpPr>
          <p:cNvPr id="17" name="内容占位符 16"/>
          <p:cNvSpPr>
            <a:spLocks noGrp="1"/>
          </p:cNvSpPr>
          <p:nvPr>
            <p:ph sz="quarter" idx="11"/>
          </p:nvPr>
        </p:nvSpPr>
        <p:spPr>
          <a:xfrm>
            <a:off x="639763" y="1420813"/>
            <a:ext cx="7085340" cy="515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、控制器设计</a:t>
            </a:r>
            <a:endParaRPr lang="en-US" altLang="zh-CN" sz="24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448502"/>
              </p:ext>
            </p:extLst>
          </p:nvPr>
        </p:nvGraphicFramePr>
        <p:xfrm>
          <a:off x="1585716" y="1842463"/>
          <a:ext cx="5910262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596800" imgH="6096000" progId="Equation.DSMT4">
                  <p:embed/>
                </p:oleObj>
              </mc:Choice>
              <mc:Fallback>
                <p:oleObj name="Equation" r:id="rId2" imgW="50596800" imgH="60960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5716" y="1842463"/>
                        <a:ext cx="5910262" cy="712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1407685" y="2976901"/>
              <a:ext cx="9237192" cy="28971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395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395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0790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0790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7245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组成部分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符号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作用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245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前馈项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charset="0"/>
                                      </a:rPr>
                                      <m:t>𝑓𝑓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提供主要驱动力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72452">
                    <a:tc rowSpan="2">
                      <a:txBody>
                        <a:bodyPr/>
                        <a:lstStyle/>
                        <a:p>
                          <a:pPr algn="ctr"/>
                          <a:endParaRPr lang="en-US" altLang="zh-CN" dirty="0"/>
                        </a:p>
                        <a:p>
                          <a:pPr algn="ctr"/>
                          <a:r>
                            <a:rPr lang="en-US" altLang="zh-CN" dirty="0"/>
                            <a:t>PD</a:t>
                          </a:r>
                          <a:r>
                            <a:rPr lang="zh-CN" altLang="en-US" dirty="0"/>
                            <a:t>反馈项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比例项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快速减小误差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72452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微分项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抑制振动，提高稳定性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7245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滑模鲁棒项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</a:rPr>
                                  <m:t>𝐾</m:t>
                                </m:r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∙</m:t>
                                </m:r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𝑠𝑎𝑡</m:t>
                                </m:r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zh-CN" altLang="en-US" b="0" i="1" smtClean="0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𝜙</m:t>
                                    </m:r>
                                  </m:den>
                                </m:f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  <a:latin typeface="quote-cjk-patch"/>
                            </a:rPr>
                            <a:t>强制系统沿滑模面运动</a:t>
                          </a:r>
                        </a:p>
                      </a:txBody>
                      <a:tcPr marL="101600" marR="101600" marT="63500" marB="6350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1407685" y="2976901"/>
              <a:ext cx="9237192" cy="28971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39532"/>
                    <a:gridCol w="1539532"/>
                    <a:gridCol w="3079064"/>
                    <a:gridCol w="3079064"/>
                  </a:tblGrid>
                  <a:tr h="57245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组成部分</a:t>
                          </a:r>
                          <a:endParaRPr lang="zh-CN" altLang="en-US" dirty="0"/>
                        </a:p>
                      </a:txBody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符号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作用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57277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前馈项</a:t>
                          </a:r>
                          <a:endParaRPr lang="zh-CN" altLang="en-US" dirty="0"/>
                        </a:p>
                      </a:txBody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提供主要驱动力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572135">
                    <a:tc rowSpan="2">
                      <a:txBody>
                        <a:bodyPr/>
                        <a:lstStyle/>
                        <a:p>
                          <a:pPr algn="ctr"/>
                          <a:endParaRPr lang="en-US" altLang="zh-CN" dirty="0"/>
                        </a:p>
                        <a:p>
                          <a:pPr algn="ctr"/>
                          <a:r>
                            <a:rPr lang="en-US" altLang="zh-CN" dirty="0"/>
                            <a:t>PD</a:t>
                          </a:r>
                          <a:r>
                            <a:rPr lang="zh-CN" altLang="en-US" dirty="0"/>
                            <a:t>反馈项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比例项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快速减小误差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572770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微分项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抑制振动，提高稳定性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60261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滑模鲁棒项</a:t>
                          </a:r>
                          <a:endParaRPr lang="zh-CN" altLang="en-US" dirty="0"/>
                        </a:p>
                      </a:txBody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  <a:latin typeface="quote-cjk-patch"/>
                            </a:rPr>
                            <a:t>强制系统沿滑模面运动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01600" marR="101600" marT="63500" marB="63500" anchor="ctr"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sp>
        <p:nvSpPr>
          <p:cNvPr id="17" name="内容占位符 16"/>
          <p:cNvSpPr>
            <a:spLocks noGrp="1"/>
          </p:cNvSpPr>
          <p:nvPr>
            <p:ph sz="quarter" idx="11"/>
          </p:nvPr>
        </p:nvSpPr>
        <p:spPr>
          <a:xfrm>
            <a:off x="504750" y="1261253"/>
            <a:ext cx="9885043" cy="50106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、控制器设计详解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）前馈控制</a:t>
            </a:r>
            <a:endParaRPr lang="en-US" altLang="zh-CN" sz="2400" b="1" dirty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作用：已知机器人的运动轨迹，提前把这些理论上需要的力算好，直接输出给电机</a:t>
            </a:r>
            <a:endParaRPr lang="en-US" altLang="zh-CN" sz="2400" dirty="0"/>
          </a:p>
          <a:p>
            <a:r>
              <a:rPr lang="zh-CN" altLang="en-US" sz="2400" dirty="0"/>
              <a:t>局限：实际参数会和理论参数有偏差，补偿力矩会不满足期望</a:t>
            </a:r>
            <a:endParaRPr lang="en-US" altLang="zh-CN" sz="2400" dirty="0"/>
          </a:p>
          <a:p>
            <a:r>
              <a:rPr lang="zh-CN" altLang="en-US" sz="2400" dirty="0"/>
              <a:t>计算：不考虑摩擦，将扰乱惯性参数代入函数，使用拉格朗日法动力学计算力矩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905281"/>
              </p:ext>
            </p:extLst>
          </p:nvPr>
        </p:nvGraphicFramePr>
        <p:xfrm>
          <a:off x="931863" y="2511425"/>
          <a:ext cx="784701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056000" imgH="6096000" progId="Equation.DSMT4">
                  <p:embed/>
                </p:oleObj>
              </mc:Choice>
              <mc:Fallback>
                <p:oleObj name="Equation" r:id="rId2" imgW="67056000" imgH="60960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1863" y="2511425"/>
                        <a:ext cx="7847012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446808" y="3222625"/>
            <a:ext cx="653255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4098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惯性项                   科氏力与离心力项               重力项           摩擦力项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4098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69BEEC7-3EE9-4F81-31A2-5F1C8904A8D6}"/>
                  </a:ext>
                </a:extLst>
              </p14:cNvPr>
              <p14:cNvContentPartPr/>
              <p14:nvPr/>
            </p14:nvContentPartPr>
            <p14:xfrm>
              <a:off x="7947140" y="2549845"/>
              <a:ext cx="770760" cy="103788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69BEEC7-3EE9-4F81-31A2-5F1C8904A8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84140" y="2486845"/>
                <a:ext cx="896400" cy="116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sp>
        <p:nvSpPr>
          <p:cNvPr id="17" name="内容占位符 16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、控制器设计详解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PD</a:t>
            </a:r>
            <a:r>
              <a:rPr lang="zh-CN" altLang="en-US" sz="2400" b="1" dirty="0"/>
              <a:t>反馈</a:t>
            </a:r>
            <a:endParaRPr lang="en-US" altLang="zh-CN" sz="2400" b="1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作用：修正前馈残余误差</a:t>
            </a:r>
            <a:endParaRPr lang="en-US" altLang="zh-CN" sz="2400" dirty="0"/>
          </a:p>
          <a:p>
            <a:r>
              <a:rPr lang="zh-CN" altLang="en-US" sz="2400" dirty="0"/>
              <a:t>局限：对于恒定的大偏差，会一直产生一个稳态误差，无法完全消除。调大增益可以减小这个误差，但太大会导致系统不稳定。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447409"/>
              </p:ext>
            </p:extLst>
          </p:nvPr>
        </p:nvGraphicFramePr>
        <p:xfrm>
          <a:off x="2339975" y="2528888"/>
          <a:ext cx="502761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976800" imgH="5791200" progId="Equation.DSMT4">
                  <p:embed/>
                </p:oleObj>
              </mc:Choice>
              <mc:Fallback>
                <p:oleObj name="Equation" r:id="rId2" imgW="42976800" imgH="57912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39975" y="2528888"/>
                        <a:ext cx="5027613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16"/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altLang="zh-CN" sz="2400" b="1" dirty="0"/>
                  <a:t>3</a:t>
                </a:r>
                <a:r>
                  <a:rPr lang="zh-CN" altLang="en-US" sz="2400" b="1" dirty="0"/>
                  <a:t>、控制器设计详解</a:t>
                </a:r>
                <a:endParaRPr lang="en-US" altLang="zh-CN" sz="2400" b="1" dirty="0"/>
              </a:p>
              <a:p>
                <a:pPr marL="0" indent="0">
                  <a:buNone/>
                </a:pPr>
                <a:r>
                  <a:rPr lang="zh-CN" altLang="en-US" sz="2400" b="1" dirty="0"/>
                  <a:t>（</a:t>
                </a:r>
                <a:r>
                  <a:rPr lang="en-US" altLang="zh-CN" sz="2400" b="1" dirty="0"/>
                  <a:t>3</a:t>
                </a:r>
                <a:r>
                  <a:rPr lang="zh-CN" altLang="en-US" sz="2400" b="1" dirty="0"/>
                  <a:t>）滑模鲁棒项</a:t>
                </a:r>
                <a:endParaRPr lang="en-US" altLang="zh-CN" sz="2400" b="1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作用：滑模控制对系统内部参数摄动具有完全不变性，从而保证在模型不准的情况下依然能精准跟踪。</a:t>
                </a:r>
                <a:endParaRPr lang="en-US" altLang="zh-CN" sz="2400" dirty="0"/>
              </a:p>
              <a:p>
                <a:r>
                  <a:rPr lang="zh-CN" altLang="en-US" sz="2400" dirty="0"/>
                  <a:t>饱和函数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𝑠𝑎𝑡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zh-CN" altLang="en-US" sz="2400" dirty="0"/>
                  <a:t>的选择：</a:t>
                </a:r>
                <a:r>
                  <a:rPr lang="en-GB" altLang="zh-CN" sz="2400" dirty="0"/>
                  <a:t> </a:t>
                </a:r>
                <a14:m>
                  <m:oMath xmlns:m="http://schemas.openxmlformats.org/officeDocument/2006/math">
                    <m:r>
                      <a:rPr lang="en-GB" altLang="zh-C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</a:rPr>
                      <m:t> &gt;  1  −&gt;  1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；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GB" altLang="zh-CN" sz="2000" i="1" dirty="0">
                        <a:latin typeface="Cambria Math" panose="02040503050406030204" pitchFamily="18" charset="0"/>
                      </a:rPr>
                      <m:t>&lt;=</m:t>
                    </m:r>
                    <m:r>
                      <a:rPr lang="en-GB" altLang="zh-CN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altLang="zh-CN" sz="2000" i="1" dirty="0">
                        <a:latin typeface="Cambria Math" panose="02040503050406030204" pitchFamily="18" charset="0"/>
                      </a:rPr>
                      <m:t>&lt;=1 −&gt; 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；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</a:rPr>
                      <m:t> &lt; −1</m:t>
                    </m:r>
                    <m:r>
                      <a:rPr lang="en-GB" altLang="zh-CN" sz="2000" i="1" dirty="0">
                        <a:latin typeface="Cambria Math" panose="02040503050406030204" pitchFamily="18" charset="0"/>
                      </a:rPr>
                      <m:t> −&gt; −1</m:t>
                    </m:r>
                  </m:oMath>
                </a14:m>
                <a:r>
                  <a:rPr lang="zh-CN" altLang="zh-CN" sz="2400" dirty="0"/>
                  <a:t>在滑模面附近不会突然从</a:t>
                </a:r>
                <a:r>
                  <a:rPr lang="en-US" altLang="zh-CN" sz="2400" dirty="0"/>
                  <a:t>-1</a:t>
                </a:r>
                <a:r>
                  <a:rPr lang="zh-CN" altLang="zh-CN" sz="2400" dirty="0"/>
                  <a:t>跳到</a:t>
                </a:r>
                <a:r>
                  <a:rPr lang="en-US" altLang="zh-CN" sz="2400" dirty="0"/>
                  <a:t>1</a:t>
                </a:r>
                <a:r>
                  <a:rPr lang="zh-CN" altLang="zh-CN" sz="2400" dirty="0"/>
                  <a:t>，抖振会小很多</a:t>
                </a:r>
                <a:endParaRPr lang="en-US" altLang="zh-CN" sz="2400" dirty="0"/>
              </a:p>
              <a:p>
                <a:r>
                  <a:rPr lang="zh-CN" altLang="zh-CN" sz="2400" dirty="0"/>
                  <a:t>边界层厚度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zh-CN" sz="2400" dirty="0"/>
                  <a:t>越小，越接近 </a:t>
                </a:r>
                <a:r>
                  <a:rPr lang="zh-CN" altLang="zh-CN" dirty="0"/>
                  <a:t>sign(s)</a:t>
                </a:r>
                <a:r>
                  <a:rPr lang="zh-CN" altLang="zh-CN" sz="2400" dirty="0"/>
                  <a:t>，鲁棒性强但抖振大；越大，控制更平滑，但鲁棒项变软，抗扰能力下降。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17" name="内容占位符 1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611" t="-6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3178175" y="2511425"/>
                <a:ext cx="3351213" cy="711200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𝑠𝑚𝑐</m:t>
                          </m:r>
                        </m:sub>
                      </m:sSub>
                      <m:r>
                        <a:rPr lang="zh-CN" altLang="en-US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zh-CN" altLang="en-US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𝑠𝑎𝑡</m:t>
                      </m:r>
                      <m:d>
                        <m:dPr>
                          <m:ctrlPr>
                            <a:rPr lang="zh-CN" altLang="en-US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175" y="2511425"/>
                <a:ext cx="3351213" cy="711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3924790" y="3133328"/>
            <a:ext cx="205697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4098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鲁棒增益    饱和函数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4098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6087-0DE3-8B0B-2A02-4D466A26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004A11E-6B07-6630-F988-B0A6F17B0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AB0B6E4E-63BE-7DF8-5D17-A46E6720525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b="1" dirty="0"/>
              <a:t>4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pd</a:t>
            </a:r>
            <a:r>
              <a:rPr lang="zh-CN" altLang="en-US" sz="2400" b="1" dirty="0"/>
              <a:t>滑膜初值选择</a:t>
            </a:r>
          </a:p>
          <a:p>
            <a:r>
              <a:rPr lang="en-US" altLang="zh-CN" sz="2400" dirty="0" err="1"/>
              <a:t>ctrl.Kp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diag</a:t>
            </a:r>
            <a:r>
              <a:rPr lang="en-US" altLang="zh-CN" sz="2400" dirty="0"/>
              <a:t>([120, 115, 100, 85, 55, 35, 25]);</a:t>
            </a:r>
          </a:p>
          <a:p>
            <a:r>
              <a:rPr lang="en-US" altLang="zh-CN" sz="2400" dirty="0" err="1"/>
              <a:t>ctrl.Kd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diag</a:t>
            </a:r>
            <a:r>
              <a:rPr lang="en-US" altLang="zh-CN" sz="2400" dirty="0"/>
              <a:t>([32, 30, 26, 22, 15, 10, 8]);</a:t>
            </a:r>
          </a:p>
          <a:p>
            <a:r>
              <a:rPr lang="en-US" altLang="zh-CN" sz="2400" dirty="0" err="1"/>
              <a:t>ctrl.Kr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diag</a:t>
            </a:r>
            <a:r>
              <a:rPr lang="en-US" altLang="zh-CN" sz="2400" dirty="0"/>
              <a:t>([10, 10, 8, 8, 5, 3, 2]);</a:t>
            </a:r>
          </a:p>
          <a:p>
            <a:r>
              <a:rPr lang="en-US" altLang="zh-CN" sz="2400" dirty="0" err="1"/>
              <a:t>ctrl.Lambda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diag</a:t>
            </a:r>
            <a:r>
              <a:rPr lang="en-US" altLang="zh-CN" sz="2400" dirty="0"/>
              <a:t>([5.0, 5.0, 4.5, 4.5, 3.5, 3.0, 2.5]);</a:t>
            </a:r>
          </a:p>
          <a:p>
            <a:r>
              <a:rPr lang="en-US" altLang="zh-CN" sz="2400" dirty="0" err="1"/>
              <a:t>ctrl.phi</a:t>
            </a:r>
            <a:r>
              <a:rPr lang="en-US" altLang="zh-CN" sz="2400" dirty="0"/>
              <a:t> = 0.08 * ones(7, 1);</a:t>
            </a:r>
          </a:p>
          <a:p>
            <a:r>
              <a:rPr lang="zh-CN" altLang="en-US" sz="2400" dirty="0"/>
              <a:t>主要依据是：前几个关节负载大、惯量大，所以增益取大；后几个腕部关节惯量小，所以增益取小。</a:t>
            </a:r>
          </a:p>
        </p:txBody>
      </p:sp>
    </p:spTree>
    <p:extLst>
      <p:ext uri="{BB962C8B-B14F-4D97-AF65-F5344CB8AC3E}">
        <p14:creationId xmlns:p14="http://schemas.microsoft.com/office/powerpoint/2010/main" val="3313403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901EB-B38F-C218-0C9A-3D430230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83B86A-B206-DE9F-BD4F-DCF27719C5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C22A7764-55CD-3219-4168-3B94E15025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2861" y="856211"/>
            <a:ext cx="10964862" cy="4656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、参数选择过程</a:t>
            </a:r>
          </a:p>
          <a:p>
            <a:r>
              <a:rPr lang="zh-CN" altLang="en-US" sz="2400" dirty="0"/>
              <a:t>最初由于超调过大使速度超出范围导致程序</a:t>
            </a:r>
            <a:r>
              <a:rPr lang="en-US" altLang="zh-CN" sz="2400" dirty="0"/>
              <a:t>IVP</a:t>
            </a:r>
            <a:r>
              <a:rPr lang="zh-CN" altLang="en-US" sz="2400" dirty="0"/>
              <a:t>求解发散</a:t>
            </a:r>
          </a:p>
          <a:p>
            <a:r>
              <a:rPr lang="en-US" altLang="zh-CN" sz="2400" dirty="0" err="1"/>
              <a:t>Kp</a:t>
            </a:r>
            <a:r>
              <a:rPr lang="en-US" altLang="zh-CN" sz="2400" dirty="0"/>
              <a:t>/</a:t>
            </a:r>
            <a:r>
              <a:rPr lang="en-US" altLang="zh-CN" sz="2400" dirty="0" err="1"/>
              <a:t>Kd</a:t>
            </a:r>
            <a:r>
              <a:rPr lang="en-US" altLang="zh-CN" sz="2400" dirty="0"/>
              <a:t>/Kr </a:t>
            </a:r>
            <a:r>
              <a:rPr lang="zh-CN" altLang="en-US" sz="2400" dirty="0"/>
              <a:t>全部缩小到原来的 </a:t>
            </a:r>
            <a:r>
              <a:rPr lang="en-US" altLang="zh-CN" sz="2400" dirty="0"/>
              <a:t>5%</a:t>
            </a:r>
            <a:r>
              <a:rPr lang="zh-CN" altLang="en-US" sz="2400" dirty="0"/>
              <a:t>，初始位置误差缩小到原来的 </a:t>
            </a:r>
            <a:r>
              <a:rPr lang="en-US" altLang="zh-CN" sz="2400" dirty="0"/>
              <a:t>25%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28F4E9-BCE7-76B6-3067-2B3BCB86E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37" y="2992918"/>
            <a:ext cx="9193097" cy="34439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E2BE0C-9739-BA3E-EB45-90C9C9624AFE}"/>
              </a:ext>
            </a:extLst>
          </p:cNvPr>
          <p:cNvSpPr txBox="1"/>
          <p:nvPr/>
        </p:nvSpPr>
        <p:spPr>
          <a:xfrm>
            <a:off x="9315834" y="3531037"/>
            <a:ext cx="22154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高频振荡</a:t>
            </a:r>
            <a:r>
              <a:rPr lang="en-US" altLang="zh-CN" dirty="0"/>
              <a:t>/</a:t>
            </a:r>
            <a:r>
              <a:rPr lang="zh-CN" altLang="en-US" dirty="0"/>
              <a:t>抖振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dq</a:t>
            </a:r>
            <a:r>
              <a:rPr lang="en-US" altLang="zh-CN" dirty="0"/>
              <a:t> </a:t>
            </a:r>
            <a:r>
              <a:rPr lang="zh-CN" altLang="en-US" dirty="0"/>
              <a:t>在高频快速变化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关节</a:t>
            </a:r>
            <a:r>
              <a:rPr lang="en-US" altLang="zh-CN" dirty="0"/>
              <a:t>2</a:t>
            </a:r>
            <a:r>
              <a:rPr lang="zh-CN" altLang="en-US" dirty="0"/>
              <a:t>的偏差特别大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7981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BD1D-C24A-6AB0-BCD2-B6858EAB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4C0F1A5-0BF1-5BBA-3197-BC48D0721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3A850EF7-3080-6EE7-D2BF-CF15B795F8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2859" y="856211"/>
            <a:ext cx="10641530" cy="21938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、参数选择过程</a:t>
            </a:r>
          </a:p>
          <a:p>
            <a:r>
              <a:rPr lang="zh-CN" altLang="en-US" sz="2400" dirty="0"/>
              <a:t>加大滑模边界层减少抖振</a:t>
            </a:r>
            <a:endParaRPr lang="en-US" altLang="zh-CN" sz="2400" dirty="0"/>
          </a:p>
          <a:p>
            <a:r>
              <a:rPr lang="zh-CN" altLang="en-US" sz="2400" dirty="0"/>
              <a:t>加等效电机惯量</a:t>
            </a:r>
            <a:r>
              <a:rPr lang="en-US" altLang="zh-CN" sz="2400" dirty="0" err="1"/>
              <a:t>ctrl.motor_inertia</a:t>
            </a:r>
            <a:r>
              <a:rPr lang="en-US" altLang="zh-CN" sz="2400" dirty="0"/>
              <a:t> = 0.05 * ones(7, 1);</a:t>
            </a:r>
          </a:p>
          <a:p>
            <a:r>
              <a:rPr lang="zh-CN" altLang="en-US" sz="2400" dirty="0"/>
              <a:t>对于关节</a:t>
            </a:r>
            <a:r>
              <a:rPr lang="en-US" altLang="zh-CN" sz="2400" dirty="0"/>
              <a:t>2</a:t>
            </a:r>
            <a:r>
              <a:rPr lang="zh-CN" altLang="en-US" sz="2400" dirty="0"/>
              <a:t>额外增强 </a:t>
            </a:r>
            <a:r>
              <a:rPr lang="en-GB" altLang="zh-CN" sz="2400" dirty="0"/>
              <a:t>joint2 </a:t>
            </a:r>
            <a:r>
              <a:rPr lang="zh-CN" altLang="en-US" sz="2400" dirty="0"/>
              <a:t>的拉回和阻尼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C4B738-C92D-75EB-E6D7-236D17B6A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60" y="3031420"/>
            <a:ext cx="9414148" cy="35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61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D4A01-C9DD-56DF-3746-ED406521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E731A60-8FD8-A21F-885A-CFCC6D56DC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FAA1E2-8B0D-CFD1-1127-0D8F96FFE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68" y="1885810"/>
            <a:ext cx="9935992" cy="3735602"/>
          </a:xfrm>
          <a:prstGeom prst="rect">
            <a:avLst/>
          </a:prstGeom>
        </p:spPr>
      </p:pic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9FBA5DF9-6C79-DDAB-652E-A53605C64A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2859" y="856211"/>
            <a:ext cx="8573391" cy="10295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、参数选择过程</a:t>
            </a:r>
          </a:p>
          <a:p>
            <a:r>
              <a:rPr lang="zh-CN" altLang="en-US" sz="2400" dirty="0"/>
              <a:t>继续微调</a:t>
            </a:r>
          </a:p>
        </p:txBody>
      </p:sp>
    </p:spTree>
    <p:extLst>
      <p:ext uri="{BB962C8B-B14F-4D97-AF65-F5344CB8AC3E}">
        <p14:creationId xmlns:p14="http://schemas.microsoft.com/office/powerpoint/2010/main" val="989833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6001-C81B-28C4-942D-9196CE5E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BEDE53A-DF0D-40AB-5EB3-339F5E31EA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F3E76863-D869-7C5F-E4F6-2975BCD106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2859" y="856211"/>
            <a:ext cx="8573391" cy="10295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、参数选择过程</a:t>
            </a:r>
          </a:p>
          <a:p>
            <a:r>
              <a:rPr lang="zh-CN" altLang="en-US" sz="2400" dirty="0"/>
              <a:t>最后得到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1E8716-8D89-9839-B551-582947F1C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48" y="2019042"/>
            <a:ext cx="10745734" cy="409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80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DE24-AB40-5C3E-C363-DBB6592A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EE35FAA-B89F-E232-510D-AF131E3112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轨迹跟踪控制</a:t>
            </a:r>
            <a:endParaRPr lang="zh-CN" altLang="en-US" dirty="0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290491B2-B16B-4AA4-DABE-12375FC454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2859" y="856211"/>
            <a:ext cx="10733584" cy="54095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、误差分析</a:t>
            </a:r>
          </a:p>
          <a:p>
            <a:r>
              <a:rPr lang="zh-CN" altLang="zh-CN" sz="2400" dirty="0"/>
              <a:t>仿真中被控对象使用真实惯性参数 </a:t>
            </a:r>
            <a:r>
              <a:rPr lang="zh-CN" altLang="zh-CN" dirty="0"/>
              <a:t>inertial_true</a:t>
            </a:r>
            <a:r>
              <a:rPr lang="zh-CN" altLang="zh-CN" sz="2400" dirty="0"/>
              <a:t>，而控制器前馈项使用扰动后的名义参数 </a:t>
            </a:r>
            <a:r>
              <a:rPr lang="zh-CN" altLang="zh-CN" dirty="0"/>
              <a:t>inertial_hat</a:t>
            </a:r>
            <a:r>
              <a:rPr lang="zh-CN" altLang="zh-CN" sz="2400" dirty="0"/>
              <a:t>，因此前馈补偿力矩与真实机械臂所需力矩不完全一致。这种模型失配会直接造成轨迹跟踪误差，也是本实验中“参数不准”问题的主要来源。</a:t>
            </a:r>
          </a:p>
          <a:p>
            <a:r>
              <a:rPr lang="zh-CN" altLang="zh-CN" sz="2400" dirty="0"/>
              <a:t>部分稳定化措施也会带来一定跟踪误差。例如前向动力学中加入了等效电机惯量 </a:t>
            </a:r>
            <a:r>
              <a:rPr lang="zh-CN" altLang="zh-CN" dirty="0"/>
              <a:t>M + Jm</a:t>
            </a:r>
            <a:r>
              <a:rPr lang="zh-CN" altLang="zh-CN" sz="2400" dirty="0"/>
              <a:t>，提高了数值稳定性，但也使系统响应变得更“迟缓”；</a:t>
            </a:r>
            <a:endParaRPr lang="en-US" altLang="zh-CN" sz="2400" dirty="0"/>
          </a:p>
          <a:p>
            <a:r>
              <a:rPr lang="zh-CN" altLang="zh-CN" sz="2400" dirty="0"/>
              <a:t>力矩限幅会限制控制器输出；滑模边界层 </a:t>
            </a:r>
            <a:r>
              <a:rPr lang="zh-CN" altLang="zh-CN" dirty="0"/>
              <a:t>sat(s/phi)</a:t>
            </a:r>
            <a:r>
              <a:rPr lang="zh-CN" altLang="zh-CN" sz="2400" dirty="0"/>
              <a:t> 能减小抖振，但会削弱滑模项在误差较小时的强鲁棒补偿能力，从而留下小的稳态误差。</a:t>
            </a:r>
          </a:p>
          <a:p>
            <a:r>
              <a:rPr lang="zh-CN" altLang="zh-CN" sz="2400" dirty="0"/>
              <a:t>数值计算和模型近似也会引入误差。程序中 </a:t>
            </a:r>
            <a:r>
              <a:rPr lang="zh-CN" altLang="zh-CN" dirty="0"/>
              <a:t>C</a:t>
            </a:r>
            <a:r>
              <a:rPr lang="zh-CN" altLang="zh-CN" sz="2400" dirty="0"/>
              <a:t> 和 </a:t>
            </a:r>
            <a:r>
              <a:rPr lang="zh-CN" altLang="zh-CN" dirty="0"/>
              <a:t>G</a:t>
            </a:r>
            <a:r>
              <a:rPr lang="zh-CN" altLang="zh-CN" sz="2400" dirty="0"/>
              <a:t> 通过有限差分计算，存在截断误差和舍入误差；RK4 虽然精度较高，但固定步长积分仍会产生离散化误差。同时模型中未考虑摩擦、传动间隙等因素，也会使仿真模型与真实机械臂存在差异。</a:t>
            </a:r>
            <a:endParaRPr lang="en-US" altLang="zh-CN" sz="2400" dirty="0"/>
          </a:p>
          <a:p>
            <a:r>
              <a:rPr lang="zh-CN" altLang="zh-CN" sz="2400" dirty="0"/>
              <a:t>从仿真图看，误差主要集中在关节 2。该关节受重力和关节耦合影响较明显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8847657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SJTU-学术">
      <a:dk1>
        <a:srgbClr val="000000"/>
      </a:dk1>
      <a:lt1>
        <a:srgbClr val="FFFFFF"/>
      </a:lt1>
      <a:dk2>
        <a:srgbClr val="003264"/>
      </a:dk2>
      <a:lt2>
        <a:srgbClr val="D9D9D9"/>
      </a:lt2>
      <a:accent1>
        <a:srgbClr val="004098"/>
      </a:accent1>
      <a:accent2>
        <a:srgbClr val="2B75CF"/>
      </a:accent2>
      <a:accent3>
        <a:srgbClr val="BD9F68"/>
      </a:accent3>
      <a:accent4>
        <a:srgbClr val="C55A11"/>
      </a:accent4>
      <a:accent5>
        <a:srgbClr val="FFC000"/>
      </a:accent5>
      <a:accent6>
        <a:srgbClr val="A6A6A6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933</Words>
  <Application>Microsoft Office PowerPoint</Application>
  <PresentationFormat>宽屏</PresentationFormat>
  <Paragraphs>94</Paragraphs>
  <Slides>13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quote-cjk-patch</vt:lpstr>
      <vt:lpstr>等线</vt:lpstr>
      <vt:lpstr>微软雅黑</vt:lpstr>
      <vt:lpstr>Arial</vt:lpstr>
      <vt:lpstr>Arial Black</vt:lpstr>
      <vt:lpstr>Cambria Math</vt:lpstr>
      <vt:lpstr>1_Office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顾璇 张</dc:creator>
  <cp:lastModifiedBy>顾璇 张</cp:lastModifiedBy>
  <cp:revision>6</cp:revision>
  <dcterms:created xsi:type="dcterms:W3CDTF">2026-06-14T08:58:51Z</dcterms:created>
  <dcterms:modified xsi:type="dcterms:W3CDTF">2026-06-14T13:03:03Z</dcterms:modified>
</cp:coreProperties>
</file>